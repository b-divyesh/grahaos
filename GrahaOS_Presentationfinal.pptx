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24AEBD-43FF-4CD7-B04C-FA4FD84E8E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1BD01B-B997-49E5-8D52-8CE634BB2D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672F1-53F7-4C2E-BCA7-4F49D770A9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C7284E-87D2-4CD4-8224-AEF8EB9ED6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962C4-4196-460C-98E0-73D015C036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2C2970-07B3-49A4-87F3-05F2A7C23E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D8B13-560B-4682-A289-16FAD0A318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14EFA5-45EC-414A-91F1-40A108863C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7C0C75-18D0-47B8-B696-560E8C2DA4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82D661-0823-4D4B-BF3F-572416D5A6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AA498-4963-4E6A-8381-886CEE9DAF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4114440" cy="685764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4114800" y="0"/>
            <a:ext cx="54360" cy="6857640"/>
          </a:xfrm>
          <a:prstGeom prst="rect">
            <a:avLst/>
          </a:prstGeom>
          <a:solidFill>
            <a:srgbClr val="2e8b8b"/>
          </a:solidFill>
          <a:ln w="15875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0" y="1005840"/>
            <a:ext cx="7223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GrahaOS</a:t>
            </a:r>
            <a:endParaRPr lang="en-GB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572000" y="22860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A Capability-First, AI-Native Operating System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4572000" y="2834640"/>
            <a:ext cx="7223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Built from scratch  •  x86_64  •  Modular monolith → hybrid microkernel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or 7"/>
          <p:cNvCxnSpPr/>
          <p:nvPr/>
        </p:nvCxnSpPr>
        <p:spPr>
          <a:xfrm>
            <a:off x="4572000" y="3520440"/>
            <a:ext cx="7132680" cy="360"/>
          </a:xfrm>
          <a:prstGeom prst="straightConnector1">
            <a:avLst/>
          </a:prstGeom>
          <a:ln w="12700">
            <a:solidFill>
              <a:srgbClr val="cfd6de"/>
            </a:solidFill>
            <a:round/>
          </a:ln>
        </p:spPr>
      </p:cxnSp>
      <p:sp>
        <p:nvSpPr>
          <p:cNvPr id="68" name="TextBox 8"/>
          <p:cNvSpPr/>
          <p:nvPr/>
        </p:nvSpPr>
        <p:spPr>
          <a:xfrm>
            <a:off x="4572000" y="37033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Team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572000" y="40690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Divyesh Bine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589520" y="406908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onsolas"/>
              </a:rPr>
              <a:t>100522733073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9875520" y="40690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CSE Sem 8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572000" y="44805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Farhan Ahmed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589520" y="448056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onsolas"/>
              </a:rPr>
              <a:t>100522733079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9875520" y="44805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CSE Sem 8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4572000" y="48920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Abraar Ahmed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7589520" y="48920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onsolas"/>
              </a:rPr>
              <a:t>100522733075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9875520" y="48920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CSE Sem 8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548640" y="30175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University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548640" y="34290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Showcase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548640" y="48463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2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A research-grade OS written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spec-first, test-driven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548640" y="61264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Phases 0–18 complete  •  399/399 tests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Why a New Operating System?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The assumptions underneath Unix are 50 years old.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87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2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548640" y="1691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What current OSes were designed for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548640" y="2103120"/>
            <a:ext cx="54860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Multi-user timesharing on expensive hardware (1970s).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Users, uid/gid, root — ambient authority.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Fork + exec, signals, blocking read()/write().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Files-as-bytes: no semantic meaning at OS level.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Drivers welded into the kernel for speed.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400800" y="169164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What modern workloads need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1"/>
          <p:cNvSpPr/>
          <p:nvPr/>
        </p:nvSpPr>
        <p:spPr>
          <a:xfrm>
            <a:off x="6400800" y="2103120"/>
            <a:ext cx="52117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AI agents are a new class of user — must be sandboxable.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Authority should be explicit, revocable, audit-traceable.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Batched async I/O — syscalls cost too much per op.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The OS should understand file semantics (type hashes, embeddings).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6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Safe speculation: 'try this and roll back if wrong'.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2"/>
          <p:cNvSpPr/>
          <p:nvPr/>
        </p:nvSpPr>
        <p:spPr>
          <a:xfrm>
            <a:off x="548640" y="5989320"/>
            <a:ext cx="11063880" cy="45684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3"/>
          <p:cNvSpPr/>
          <p:nvPr/>
        </p:nvSpPr>
        <p:spPr>
          <a:xfrm>
            <a:off x="548640" y="603504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GrahaOS rebuilds the kernel around capabilities, manifests, and speculation — native, not bolted-on.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The Seven Design Principles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Every spec file must uphold at least two of these and violate none.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100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3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548640" y="1645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Oval 9"/>
          <p:cNvSpPr/>
          <p:nvPr/>
        </p:nvSpPr>
        <p:spPr>
          <a:xfrm>
            <a:off x="685800" y="1847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1371600" y="1737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Capabilities are the sole authority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1371600" y="2148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No ambient auth. No users. Identity = tokens held.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2"/>
          <p:cNvSpPr/>
          <p:nvPr/>
        </p:nvSpPr>
        <p:spPr>
          <a:xfrm>
            <a:off x="6309360" y="1645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Oval 13"/>
          <p:cNvSpPr/>
          <p:nvPr/>
        </p:nvSpPr>
        <p:spPr>
          <a:xfrm>
            <a:off x="6446520" y="1847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7132320" y="1737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GCP is the only native public interface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7132320" y="2148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syscall manifest-typed. POSIX is optional userspace.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6"/>
          <p:cNvSpPr/>
          <p:nvPr/>
        </p:nvSpPr>
        <p:spPr>
          <a:xfrm>
            <a:off x="548640" y="2788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17"/>
          <p:cNvSpPr/>
          <p:nvPr/>
        </p:nvSpPr>
        <p:spPr>
          <a:xfrm>
            <a:off x="685800" y="2990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1371600" y="2880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Foundation before migration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1371600" y="3291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Lay new primitives, then move old callers behind shims.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20"/>
          <p:cNvSpPr/>
          <p:nvPr/>
        </p:nvSpPr>
        <p:spPr>
          <a:xfrm>
            <a:off x="6309360" y="2788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Oval 21"/>
          <p:cNvSpPr/>
          <p:nvPr/>
        </p:nvSpPr>
        <p:spPr>
          <a:xfrm>
            <a:off x="6446520" y="2990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7132320" y="2880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Failure is auditable, not silent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3"/>
          <p:cNvSpPr/>
          <p:nvPr/>
        </p:nvSpPr>
        <p:spPr>
          <a:xfrm>
            <a:off x="7132320" y="3291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Panics dump structured frames. Violations hit the audit log.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24"/>
          <p:cNvSpPr/>
          <p:nvPr/>
        </p:nvSpPr>
        <p:spPr>
          <a:xfrm>
            <a:off x="548640" y="3931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Oval 25"/>
          <p:cNvSpPr/>
          <p:nvPr/>
        </p:nvSpPr>
        <p:spPr>
          <a:xfrm>
            <a:off x="685800" y="4133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6"/>
          <p:cNvSpPr/>
          <p:nvPr/>
        </p:nvSpPr>
        <p:spPr>
          <a:xfrm>
            <a:off x="1371600" y="4023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Everything is testable by hand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1371600" y="4434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spec has manual_verification with exact commands.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8"/>
          <p:cNvSpPr/>
          <p:nvPr/>
        </p:nvSpPr>
        <p:spPr>
          <a:xfrm>
            <a:off x="6309360" y="3931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Oval 29"/>
          <p:cNvSpPr/>
          <p:nvPr/>
        </p:nvSpPr>
        <p:spPr>
          <a:xfrm>
            <a:off x="6446520" y="4133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0"/>
          <p:cNvSpPr/>
          <p:nvPr/>
        </p:nvSpPr>
        <p:spPr>
          <a:xfrm>
            <a:off x="7132320" y="4023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Drivers drift outward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1"/>
          <p:cNvSpPr/>
          <p:nvPr/>
        </p:nvSpPr>
        <p:spPr>
          <a:xfrm>
            <a:off x="7132320" y="4434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Kernel keeps VMM/sched/interrupts. Net/FS/block migrate out.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32"/>
          <p:cNvSpPr/>
          <p:nvPr/>
        </p:nvSpPr>
        <p:spPr>
          <a:xfrm>
            <a:off x="548640" y="5074920"/>
            <a:ext cx="5348880" cy="1051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Oval 33"/>
          <p:cNvSpPr/>
          <p:nvPr/>
        </p:nvSpPr>
        <p:spPr>
          <a:xfrm>
            <a:off x="685800" y="5276160"/>
            <a:ext cx="548280" cy="54828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4"/>
          <p:cNvSpPr/>
          <p:nvPr/>
        </p:nvSpPr>
        <p:spPr>
          <a:xfrm>
            <a:off x="1371600" y="51663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Speculation is a first-class AI primitive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5"/>
          <p:cNvSpPr/>
          <p:nvPr/>
        </p:nvSpPr>
        <p:spPr>
          <a:xfrm>
            <a:off x="1371600" y="557784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Versioned FS + snapshots + txn channels = safe AI exploration.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Architecture Overview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Modular monolith today, hybrid microkernel by Phase 23.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135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4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8"/>
          <p:cNvSpPr/>
          <p:nvPr/>
        </p:nvSpPr>
        <p:spPr>
          <a:xfrm>
            <a:off x="731520" y="1828800"/>
            <a:ext cx="5028840" cy="420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731520" y="15087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USERSPACE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0"/>
          <p:cNvSpPr/>
          <p:nvPr/>
        </p:nvSpPr>
        <p:spPr>
          <a:xfrm>
            <a:off x="914400" y="201168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1051560" y="21031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gash / grahai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2"/>
          <p:cNvSpPr/>
          <p:nvPr/>
        </p:nvSpPr>
        <p:spPr>
          <a:xfrm>
            <a:off x="1051560" y="24688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shell + AI agent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3"/>
          <p:cNvSpPr/>
          <p:nvPr/>
        </p:nvSpPr>
        <p:spPr>
          <a:xfrm>
            <a:off x="914400" y="297180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4"/>
          <p:cNvSpPr/>
          <p:nvPr/>
        </p:nvSpPr>
        <p:spPr>
          <a:xfrm>
            <a:off x="1051560" y="3063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ktest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1051560" y="34290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TAP test harness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6"/>
          <p:cNvSpPr/>
          <p:nvPr/>
        </p:nvSpPr>
        <p:spPr>
          <a:xfrm>
            <a:off x="914400" y="393192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1051560" y="40233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libc / libtap / libgcp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1051560" y="43891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thin libraries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9"/>
          <p:cNvSpPr/>
          <p:nvPr/>
        </p:nvSpPr>
        <p:spPr>
          <a:xfrm>
            <a:off x="914400" y="489204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0"/>
          <p:cNvSpPr/>
          <p:nvPr/>
        </p:nvSpPr>
        <p:spPr>
          <a:xfrm>
            <a:off x="1051560" y="4983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Future drivers (P21-23)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1051560" y="5349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net / AHCI / block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2"/>
          <p:cNvSpPr/>
          <p:nvPr/>
        </p:nvSpPr>
        <p:spPr>
          <a:xfrm>
            <a:off x="6400800" y="1828800"/>
            <a:ext cx="5028840" cy="420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6400800" y="15087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KERNEL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24"/>
          <p:cNvSpPr/>
          <p:nvPr/>
        </p:nvSpPr>
        <p:spPr>
          <a:xfrm>
            <a:off x="6583680" y="201168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6720840" y="21031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cap/ + io/ + ipc/ + mm/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6"/>
          <p:cNvSpPr/>
          <p:nvPr/>
        </p:nvSpPr>
        <p:spPr>
          <a:xfrm>
            <a:off x="6720840" y="24688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Tokens • Pledges • Channels • VMOs • Streams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27"/>
          <p:cNvSpPr/>
          <p:nvPr/>
        </p:nvSpPr>
        <p:spPr>
          <a:xfrm>
            <a:off x="6583680" y="297180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8"/>
          <p:cNvSpPr/>
          <p:nvPr/>
        </p:nvSpPr>
        <p:spPr>
          <a:xfrm>
            <a:off x="6720840" y="3063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fs/ — VFS + GrahaFS + SimHash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9"/>
          <p:cNvSpPr/>
          <p:nvPr/>
        </p:nvSpPr>
        <p:spPr>
          <a:xfrm>
            <a:off x="6720840" y="34290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AI-metadata native, async_read hooks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0"/>
          <p:cNvSpPr/>
          <p:nvPr/>
        </p:nvSpPr>
        <p:spPr>
          <a:xfrm>
            <a:off x="6583680" y="393192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1"/>
          <p:cNvSpPr/>
          <p:nvPr/>
        </p:nvSpPr>
        <p:spPr>
          <a:xfrm>
            <a:off x="6720840" y="40233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arch/x86_64/ — scheduler + VMM + PMM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2"/>
          <p:cNvSpPr/>
          <p:nvPr/>
        </p:nvSpPr>
        <p:spPr>
          <a:xfrm>
            <a:off x="6720840" y="43891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TASK_STATE_CHAN_WAIT, HHDM mapping, per-CPU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33"/>
          <p:cNvSpPr/>
          <p:nvPr/>
        </p:nvSpPr>
        <p:spPr>
          <a:xfrm>
            <a:off x="6583680" y="4892040"/>
            <a:ext cx="466308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4"/>
          <p:cNvSpPr/>
          <p:nvPr/>
        </p:nvSpPr>
        <p:spPr>
          <a:xfrm>
            <a:off x="6720840" y="4983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drivers (in-kernel today, leaving P21-23)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6720840" y="5349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AHCI / e1000 / lapic / keyboard / fb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Connector 36"/>
          <p:cNvCxnSpPr/>
          <p:nvPr/>
        </p:nvCxnSpPr>
        <p:spPr>
          <a:xfrm>
            <a:off x="5760720" y="2880360"/>
            <a:ext cx="594720" cy="360"/>
          </a:xfrm>
          <a:prstGeom prst="bentConnector2">
            <a:avLst/>
          </a:prstGeom>
          <a:ln w="28575">
            <a:solidFill>
              <a:srgbClr val="2e8b8b"/>
            </a:solidFill>
            <a:round/>
          </a:ln>
        </p:spPr>
      </p:cxnSp>
      <p:sp>
        <p:nvSpPr>
          <p:cNvPr id="166" name="TextBox 37"/>
          <p:cNvSpPr/>
          <p:nvPr/>
        </p:nvSpPr>
        <p:spPr>
          <a:xfrm>
            <a:off x="5650920" y="256032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IPC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8"/>
          <p:cNvSpPr/>
          <p:nvPr/>
        </p:nvSpPr>
        <p:spPr>
          <a:xfrm>
            <a:off x="548640" y="617220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Kernel boundary moves outward each phase. Today it owns scheduler + MM + drivers. Phase 21-23: drivers out.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Capabilities as the Sole Authority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No users. No uid/gid. No root. Identity = bundle of tokens held.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2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173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5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548640" y="169164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cap_token_t — 64 bits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9"/>
          <p:cNvSpPr/>
          <p:nvPr/>
        </p:nvSpPr>
        <p:spPr>
          <a:xfrm>
            <a:off x="548640" y="2194560"/>
            <a:ext cx="2742840" cy="1096920"/>
          </a:xfrm>
          <a:prstGeom prst="rect">
            <a:avLst/>
          </a:prstGeom>
          <a:solidFill>
            <a:srgbClr val="dce8f4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Generation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32 bits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0"/>
          <p:cNvSpPr/>
          <p:nvPr/>
        </p:nvSpPr>
        <p:spPr>
          <a:xfrm>
            <a:off x="3291840" y="2194560"/>
            <a:ext cx="2102760" cy="1096920"/>
          </a:xfrm>
          <a:prstGeom prst="rect">
            <a:avLst/>
          </a:prstGeom>
          <a:solidFill>
            <a:srgbClr val="cce3de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Object Index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24 bits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1"/>
          <p:cNvSpPr/>
          <p:nvPr/>
        </p:nvSpPr>
        <p:spPr>
          <a:xfrm>
            <a:off x="5394960" y="2194560"/>
            <a:ext cx="914040" cy="1096920"/>
          </a:xfrm>
          <a:prstGeom prst="rect">
            <a:avLst/>
          </a:prstGeom>
          <a:solidFill>
            <a:srgbClr val="f0d6be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Flags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8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2"/>
          <p:cNvSpPr/>
          <p:nvPr/>
        </p:nvSpPr>
        <p:spPr>
          <a:xfrm>
            <a:off x="548640" y="338328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Passed by value in registers. Never heap-allocated.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548640" y="384048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Resolve path (hot)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4"/>
          <p:cNvSpPr/>
          <p:nvPr/>
        </p:nvSpPr>
        <p:spPr>
          <a:xfrm>
            <a:off x="548640" y="4206240"/>
            <a:ext cx="57603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Atomic-acquire load generation → compare → reject if stale.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Check calling pid in audience_set (CAP_FLAG_PUBLIC bypass).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Bitmask AND check on rights (READ / WRITE / DERIVE / …).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No locks. ~20–30 cycles typical.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6675120" y="16916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Key properties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6"/>
          <p:cNvSpPr/>
          <p:nvPr/>
        </p:nvSpPr>
        <p:spPr>
          <a:xfrm>
            <a:off x="6675120" y="2194560"/>
            <a:ext cx="493740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6812280" y="22860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Derivable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6812280" y="263340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Narrow rights / audience into child caps; tree tracked.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9"/>
          <p:cNvSpPr/>
          <p:nvPr/>
        </p:nvSpPr>
        <p:spPr>
          <a:xfrm>
            <a:off x="6675120" y="3200400"/>
            <a:ext cx="493740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0"/>
          <p:cNvSpPr/>
          <p:nvPr/>
        </p:nvSpPr>
        <p:spPr>
          <a:xfrm>
            <a:off x="6812280" y="32918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Revocable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1"/>
          <p:cNvSpPr/>
          <p:nvPr/>
        </p:nvSpPr>
        <p:spPr>
          <a:xfrm>
            <a:off x="6812280" y="363924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Single gen++ invalidates all outstanding tokens (O(1)).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2"/>
          <p:cNvSpPr/>
          <p:nvPr/>
        </p:nvSpPr>
        <p:spPr>
          <a:xfrm>
            <a:off x="6675120" y="4206240"/>
            <a:ext cx="493740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3"/>
          <p:cNvSpPr/>
          <p:nvPr/>
        </p:nvSpPr>
        <p:spPr>
          <a:xfrm>
            <a:off x="6812280" y="42976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Audience-scoped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4"/>
          <p:cNvSpPr/>
          <p:nvPr/>
        </p:nvSpPr>
        <p:spPr>
          <a:xfrm>
            <a:off x="6812280" y="464508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Audience set is per-capability; privacy-preserving filter.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25"/>
          <p:cNvSpPr/>
          <p:nvPr/>
        </p:nvSpPr>
        <p:spPr>
          <a:xfrm>
            <a:off x="6675120" y="5212080"/>
            <a:ext cx="4937400" cy="8683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6"/>
          <p:cNvSpPr/>
          <p:nvPr/>
        </p:nvSpPr>
        <p:spPr>
          <a:xfrm>
            <a:off x="6812280" y="5303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Kind-dispatched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7"/>
          <p:cNvSpPr/>
          <p:nvPr/>
        </p:nvSpPr>
        <p:spPr>
          <a:xfrm>
            <a:off x="6812280" y="565092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CHANNEL, VMO, STREAM, FILE, PROC — each has a deactivator.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Pledges — The Second Authority Axis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'What WILL this process ever do again?' — monotonically narrowing.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6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548640" y="1691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Concept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548640" y="2103120"/>
            <a:ext cx="54860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Capability answers: CAN do this now?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Pledge answers: WILL ever do this again?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Narrow-only: drop PLEDGE_FS_WRITE once → permanent.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Reset only on SYS_SPAWN (new child, fresh subset).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sensitive syscall = one AND + one compare.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6400800" y="169164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12 Classes (16-bit mask)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1"/>
          <p:cNvSpPr/>
          <p:nvPr/>
        </p:nvSpPr>
        <p:spPr>
          <a:xfrm>
            <a:off x="6446520" y="214884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6492240" y="2194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FS_READ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6492240" y="24598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files read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4"/>
          <p:cNvSpPr/>
          <p:nvPr/>
        </p:nvSpPr>
        <p:spPr>
          <a:xfrm>
            <a:off x="8138160" y="214884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8183880" y="2194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FS_WRITE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6"/>
          <p:cNvSpPr/>
          <p:nvPr/>
        </p:nvSpPr>
        <p:spPr>
          <a:xfrm>
            <a:off x="8183880" y="24598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files write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7"/>
          <p:cNvSpPr/>
          <p:nvPr/>
        </p:nvSpPr>
        <p:spPr>
          <a:xfrm>
            <a:off x="9829800" y="214884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9875520" y="2194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NET_CLIENT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9875520" y="24598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outbound net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446520" y="288036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1"/>
          <p:cNvSpPr/>
          <p:nvPr/>
        </p:nvSpPr>
        <p:spPr>
          <a:xfrm>
            <a:off x="6492240" y="29260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NET_SERVER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492240" y="31914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listen/bind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23"/>
          <p:cNvSpPr/>
          <p:nvPr/>
        </p:nvSpPr>
        <p:spPr>
          <a:xfrm>
            <a:off x="8138160" y="288036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4"/>
          <p:cNvSpPr/>
          <p:nvPr/>
        </p:nvSpPr>
        <p:spPr>
          <a:xfrm>
            <a:off x="8183880" y="29260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SPAWN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5"/>
          <p:cNvSpPr/>
          <p:nvPr/>
        </p:nvSpPr>
        <p:spPr>
          <a:xfrm>
            <a:off x="8183880" y="31914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create processes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6"/>
          <p:cNvSpPr/>
          <p:nvPr/>
        </p:nvSpPr>
        <p:spPr>
          <a:xfrm>
            <a:off x="9829800" y="288036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7"/>
          <p:cNvSpPr/>
          <p:nvPr/>
        </p:nvSpPr>
        <p:spPr>
          <a:xfrm>
            <a:off x="9875520" y="292608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IPC_SEND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8"/>
          <p:cNvSpPr/>
          <p:nvPr/>
        </p:nvSpPr>
        <p:spPr>
          <a:xfrm>
            <a:off x="9875520" y="31914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channel send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29"/>
          <p:cNvSpPr/>
          <p:nvPr/>
        </p:nvSpPr>
        <p:spPr>
          <a:xfrm>
            <a:off x="6446520" y="361188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0"/>
          <p:cNvSpPr/>
          <p:nvPr/>
        </p:nvSpPr>
        <p:spPr>
          <a:xfrm>
            <a:off x="6492240" y="36576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IPC_RECV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1"/>
          <p:cNvSpPr/>
          <p:nvPr/>
        </p:nvSpPr>
        <p:spPr>
          <a:xfrm>
            <a:off x="6492240" y="39229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channel recv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32"/>
          <p:cNvSpPr/>
          <p:nvPr/>
        </p:nvSpPr>
        <p:spPr>
          <a:xfrm>
            <a:off x="8138160" y="361188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33"/>
          <p:cNvSpPr/>
          <p:nvPr/>
        </p:nvSpPr>
        <p:spPr>
          <a:xfrm>
            <a:off x="8183880" y="36576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SYS_QUERY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4"/>
          <p:cNvSpPr/>
          <p:nvPr/>
        </p:nvSpPr>
        <p:spPr>
          <a:xfrm>
            <a:off x="8183880" y="39229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read kernel state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35"/>
          <p:cNvSpPr/>
          <p:nvPr/>
        </p:nvSpPr>
        <p:spPr>
          <a:xfrm>
            <a:off x="9829800" y="361188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36"/>
          <p:cNvSpPr/>
          <p:nvPr/>
        </p:nvSpPr>
        <p:spPr>
          <a:xfrm>
            <a:off x="9875520" y="365760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SYS_CONTROL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7"/>
          <p:cNvSpPr/>
          <p:nvPr/>
        </p:nvSpPr>
        <p:spPr>
          <a:xfrm>
            <a:off x="9875520" y="39229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reboot / kill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38"/>
          <p:cNvSpPr/>
          <p:nvPr/>
        </p:nvSpPr>
        <p:spPr>
          <a:xfrm>
            <a:off x="6446520" y="434340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39"/>
          <p:cNvSpPr/>
          <p:nvPr/>
        </p:nvSpPr>
        <p:spPr>
          <a:xfrm>
            <a:off x="6492240" y="4389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AI_CALL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0"/>
          <p:cNvSpPr/>
          <p:nvPr/>
        </p:nvSpPr>
        <p:spPr>
          <a:xfrm>
            <a:off x="6492240" y="46544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AI agent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41"/>
          <p:cNvSpPr/>
          <p:nvPr/>
        </p:nvSpPr>
        <p:spPr>
          <a:xfrm>
            <a:off x="8138160" y="434340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42"/>
          <p:cNvSpPr/>
          <p:nvPr/>
        </p:nvSpPr>
        <p:spPr>
          <a:xfrm>
            <a:off x="8183880" y="4389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COMPUTE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3"/>
          <p:cNvSpPr/>
          <p:nvPr/>
        </p:nvSpPr>
        <p:spPr>
          <a:xfrm>
            <a:off x="8183880" y="46544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CPU + memory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44"/>
          <p:cNvSpPr/>
          <p:nvPr/>
        </p:nvSpPr>
        <p:spPr>
          <a:xfrm>
            <a:off x="9829800" y="4343400"/>
            <a:ext cx="1599840" cy="639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45"/>
          <p:cNvSpPr/>
          <p:nvPr/>
        </p:nvSpPr>
        <p:spPr>
          <a:xfrm>
            <a:off x="9875520" y="4389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TIME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6"/>
          <p:cNvSpPr/>
          <p:nvPr/>
        </p:nvSpPr>
        <p:spPr>
          <a:xfrm>
            <a:off x="9875520" y="46544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sleep / clock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47"/>
          <p:cNvSpPr/>
          <p:nvPr/>
        </p:nvSpPr>
        <p:spPr>
          <a:xfrm>
            <a:off x="548640" y="5897880"/>
            <a:ext cx="11063880" cy="502560"/>
          </a:xfrm>
          <a:prstGeom prst="rect">
            <a:avLst/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48"/>
          <p:cNvSpPr/>
          <p:nvPr/>
        </p:nvSpPr>
        <p:spPr>
          <a:xfrm>
            <a:off x="777240" y="5989320"/>
            <a:ext cx="1060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onsolas"/>
              </a:rPr>
              <a:t>pledge_allows(task, CLASS)  =  (mask.raw &amp; (1u &lt;&lt; CLASS)) != 0   — header-only inline, zero overhead.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CAN — Capability Activation Network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The sole registry of system components. Drivers as graph nodes.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7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248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7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8"/>
          <p:cNvSpPr/>
          <p:nvPr/>
        </p:nvSpPr>
        <p:spPr>
          <a:xfrm>
            <a:off x="548640" y="1691640"/>
            <a:ext cx="53031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driver / service / app registered as a CAN cap.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Dependency edges: e.g., tcp_ip depends on e1000 depends on pci_bus.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Activate cascades forward; deactivate cascades backward.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Each cap has on_activate / on_deactivate callbacks — physically drives hardware (keyboard IRQ on/off, fb mmio on/off).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Audit log entries on every state flip.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Phase 16 completed the hardware wiring (keyboard, fb, e1000, ahci).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9"/>
          <p:cNvSpPr/>
          <p:nvPr/>
        </p:nvSpPr>
        <p:spPr>
          <a:xfrm>
            <a:off x="6583680" y="557784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apps + services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0"/>
          <p:cNvSpPr/>
          <p:nvPr/>
        </p:nvSpPr>
        <p:spPr>
          <a:xfrm>
            <a:off x="8138160" y="540000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gash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11"/>
          <p:cNvSpPr/>
          <p:nvPr/>
        </p:nvSpPr>
        <p:spPr>
          <a:xfrm>
            <a:off x="9180000" y="543744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2"/>
          <p:cNvSpPr/>
          <p:nvPr/>
        </p:nvSpPr>
        <p:spPr>
          <a:xfrm>
            <a:off x="10260000" y="540000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ktest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3"/>
          <p:cNvSpPr/>
          <p:nvPr/>
        </p:nvSpPr>
        <p:spPr>
          <a:xfrm>
            <a:off x="6583680" y="457200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FS + net + audit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4"/>
          <p:cNvSpPr/>
          <p:nvPr/>
        </p:nvSpPr>
        <p:spPr>
          <a:xfrm>
            <a:off x="8138160" y="461772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grahafs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15"/>
          <p:cNvSpPr/>
          <p:nvPr/>
        </p:nvSpPr>
        <p:spPr>
          <a:xfrm>
            <a:off x="9235440" y="461772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tcp_ip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16"/>
          <p:cNvSpPr/>
          <p:nvPr/>
        </p:nvSpPr>
        <p:spPr>
          <a:xfrm>
            <a:off x="10332720" y="461772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audit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7"/>
          <p:cNvSpPr/>
          <p:nvPr/>
        </p:nvSpPr>
        <p:spPr>
          <a:xfrm>
            <a:off x="6583680" y="356616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drivers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18"/>
          <p:cNvSpPr/>
          <p:nvPr/>
        </p:nvSpPr>
        <p:spPr>
          <a:xfrm>
            <a:off x="7725960" y="361188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keyboard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19"/>
          <p:cNvSpPr/>
          <p:nvPr/>
        </p:nvSpPr>
        <p:spPr>
          <a:xfrm>
            <a:off x="8778600" y="360000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fb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20"/>
          <p:cNvSpPr/>
          <p:nvPr/>
        </p:nvSpPr>
        <p:spPr>
          <a:xfrm>
            <a:off x="9692640" y="361188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e1000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21"/>
          <p:cNvSpPr/>
          <p:nvPr/>
        </p:nvSpPr>
        <p:spPr>
          <a:xfrm>
            <a:off x="10785960" y="360000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ahci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2"/>
          <p:cNvSpPr/>
          <p:nvPr/>
        </p:nvSpPr>
        <p:spPr>
          <a:xfrm>
            <a:off x="6583680" y="25603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hardware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23"/>
          <p:cNvSpPr/>
          <p:nvPr/>
        </p:nvSpPr>
        <p:spPr>
          <a:xfrm>
            <a:off x="8138160" y="260604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cpu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24"/>
          <p:cNvSpPr/>
          <p:nvPr/>
        </p:nvSpPr>
        <p:spPr>
          <a:xfrm>
            <a:off x="9144360" y="260604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memory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25"/>
          <p:cNvSpPr/>
          <p:nvPr/>
        </p:nvSpPr>
        <p:spPr>
          <a:xfrm>
            <a:off x="10245960" y="2606040"/>
            <a:ext cx="9140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pci_bus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Connector 26"/>
          <p:cNvCxnSpPr/>
          <p:nvPr/>
        </p:nvCxnSpPr>
        <p:spPr>
          <a:xfrm rot="16200000">
            <a:off x="8024040" y="2903040"/>
            <a:ext cx="22896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69" name="Connector 27"/>
          <p:cNvCxnSpPr/>
          <p:nvPr/>
        </p:nvCxnSpPr>
        <p:spPr>
          <a:xfrm rot="16200000">
            <a:off x="8001000" y="393192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0" name="Connector 28"/>
          <p:cNvCxnSpPr/>
          <p:nvPr/>
        </p:nvCxnSpPr>
        <p:spPr>
          <a:xfrm rot="16200000">
            <a:off x="8001000" y="493776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1" name="Connector 29"/>
          <p:cNvCxnSpPr/>
          <p:nvPr/>
        </p:nvCxnSpPr>
        <p:spPr>
          <a:xfrm rot="16200000">
            <a:off x="9121320" y="2903040"/>
            <a:ext cx="22896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2" name="Connector 30"/>
          <p:cNvCxnSpPr/>
          <p:nvPr/>
        </p:nvCxnSpPr>
        <p:spPr>
          <a:xfrm rot="16200000">
            <a:off x="9098280" y="393192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3" name="Connector 31"/>
          <p:cNvCxnSpPr/>
          <p:nvPr/>
        </p:nvCxnSpPr>
        <p:spPr>
          <a:xfrm rot="16200000">
            <a:off x="9098280" y="493776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4" name="Connector 32"/>
          <p:cNvCxnSpPr/>
          <p:nvPr/>
        </p:nvCxnSpPr>
        <p:spPr>
          <a:xfrm rot="16200000">
            <a:off x="10127160" y="2903040"/>
            <a:ext cx="22896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5" name="Connector 33"/>
          <p:cNvCxnSpPr/>
          <p:nvPr/>
        </p:nvCxnSpPr>
        <p:spPr>
          <a:xfrm rot="16200000">
            <a:off x="10104120" y="393192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cxnSp>
        <p:nvCxnSpPr>
          <p:cNvPr id="276" name="Connector 34"/>
          <p:cNvCxnSpPr/>
          <p:nvPr/>
        </p:nvCxnSpPr>
        <p:spPr>
          <a:xfrm rot="16200000">
            <a:off x="10104120" y="4937760"/>
            <a:ext cx="274680" cy="360"/>
          </a:xfrm>
          <a:prstGeom prst="bentConnector2">
            <a:avLst/>
          </a:prstGeom>
          <a:ln w="12700">
            <a:solidFill>
              <a:srgbClr val="8a8f9b"/>
            </a:solidFill>
            <a:round/>
          </a:ln>
        </p:spPr>
      </p:cxnSp>
      <p:sp>
        <p:nvSpPr>
          <p:cNvPr id="277" name="TextBox 35"/>
          <p:cNvSpPr/>
          <p:nvPr/>
        </p:nvSpPr>
        <p:spPr>
          <a:xfrm>
            <a:off x="7863840" y="603504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→ activate cascades up; deactivate cascades down.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GCP — The Only Native Public Interface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/etc/gcp.json is the single source of truth for every syscall and message.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283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8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8"/>
          <p:cNvSpPr/>
          <p:nvPr/>
        </p:nvSpPr>
        <p:spPr>
          <a:xfrm>
            <a:off x="548640" y="1691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What GCP enforces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9"/>
          <p:cNvSpPr/>
          <p:nvPr/>
        </p:nvSpPr>
        <p:spPr>
          <a:xfrm>
            <a:off x="548640" y="2103120"/>
            <a:ext cx="530316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syscall has a manifest entry in JSON.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channel message carries a 64-bit type_hash (FNV-1a).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Kernel rejects mistyped sends at entry (−EPROTOTYPE).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stream op has a generated op_schema row.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AI agents + humans read the same JSON file.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4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POSIX is optional libposix in userspace — never in kernel.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0"/>
          <p:cNvSpPr/>
          <p:nvPr/>
        </p:nvSpPr>
        <p:spPr>
          <a:xfrm>
            <a:off x="6400800" y="1691640"/>
            <a:ext cx="5303160" cy="3840120"/>
          </a:xfrm>
          <a:prstGeom prst="rect">
            <a:avLst/>
          </a:prstGeom>
          <a:solidFill>
            <a:srgbClr val="1f2937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6400800" y="169164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c9e2"/>
                </a:solidFill>
                <a:effectLst/>
                <a:uFillTx/>
                <a:latin typeface="Consolas"/>
              </a:rPr>
              <a:t>  /etc/gcp.json  (excerpt)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2"/>
          <p:cNvSpPr/>
          <p:nvPr/>
        </p:nvSpPr>
        <p:spPr>
          <a:xfrm>
            <a:off x="6583680" y="2057400"/>
            <a:ext cx="50288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"grahaos.io.v1": {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"ops": {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  "READ_VMO": { "op": 1,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    "pledge": "FS_READ",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    "dispatcher": "dispatch_read_vmo" },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  "WRITE_VMO":  { "op": 2, … },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  "SENDMSG":    { "op": 3, … }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  }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ef"/>
                </a:solidFill>
                <a:effectLst/>
                <a:uFillTx/>
                <a:latin typeface="Consolas"/>
              </a:rPr>
              <a:t>}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13"/>
          <p:cNvSpPr/>
          <p:nvPr/>
        </p:nvSpPr>
        <p:spPr>
          <a:xfrm>
            <a:off x="548640" y="5760720"/>
            <a:ext cx="11063880" cy="63972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14"/>
          <p:cNvSpPr/>
          <p:nvPr/>
        </p:nvSpPr>
        <p:spPr>
          <a:xfrm>
            <a:off x="685800" y="580644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gen_manifest.py → single JSON → kernel op_schema + userspace OP_* constants.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5"/>
          <p:cNvSpPr/>
          <p:nvPr/>
        </p:nvSpPr>
        <p:spPr>
          <a:xfrm>
            <a:off x="685800" y="61081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Kernel and userspace can never drift out of sync — the ABI is generated.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Channels — Typed Bidirectional IPC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Replace ambient pipes. Atomic handle transfer. Manifest-anchored.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9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640080" y="2011680"/>
            <a:ext cx="2559960" cy="2194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9"/>
          <p:cNvSpPr/>
          <p:nvPr/>
        </p:nvSpPr>
        <p:spPr>
          <a:xfrm>
            <a:off x="640080" y="2103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Process 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10"/>
          <p:cNvSpPr/>
          <p:nvPr/>
        </p:nvSpPr>
        <p:spPr>
          <a:xfrm>
            <a:off x="914400" y="283464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wr_handle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640080" y="35204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Holds CAP_KIND_CHANNEL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write endpoint.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9052560" y="2011680"/>
            <a:ext cx="2559960" cy="21942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3"/>
          <p:cNvSpPr/>
          <p:nvPr/>
        </p:nvSpPr>
        <p:spPr>
          <a:xfrm>
            <a:off x="9052560" y="21031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Process B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ounded Rectangle 14"/>
          <p:cNvSpPr/>
          <p:nvPr/>
        </p:nvSpPr>
        <p:spPr>
          <a:xfrm>
            <a:off x="9326880" y="283464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rd_handle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9052560" y="35204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Holds CAP_KIND_CHANNEL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read endpoint.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3657600" y="2011680"/>
            <a:ext cx="5120280" cy="2194200"/>
          </a:xfrm>
          <a:prstGeom prst="roundRect">
            <a:avLst>
              <a:gd name="adj" fmla="val 16667"/>
            </a:avLst>
          </a:prstGeom>
          <a:solidFill>
            <a:srgbClr val="e6eee1"/>
          </a:solidFill>
          <a:ln w="190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17"/>
          <p:cNvSpPr/>
          <p:nvPr/>
        </p:nvSpPr>
        <p:spPr>
          <a:xfrm>
            <a:off x="3657600" y="21031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channel_t (manifest-typed)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3657600" y="242316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e8b8b"/>
                </a:solidFill>
                <a:effectLst/>
                <a:uFillTx/>
                <a:latin typeface="Consolas"/>
              </a:rPr>
              <a:t>type_hash = FNV-1a("grahaos.io.v1")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9"/>
          <p:cNvSpPr/>
          <p:nvPr/>
        </p:nvSpPr>
        <p:spPr>
          <a:xfrm>
            <a:off x="379476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s0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20"/>
          <p:cNvSpPr/>
          <p:nvPr/>
        </p:nvSpPr>
        <p:spPr>
          <a:xfrm>
            <a:off x="441648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s1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21"/>
          <p:cNvSpPr/>
          <p:nvPr/>
        </p:nvSpPr>
        <p:spPr>
          <a:xfrm>
            <a:off x="503820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s2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22"/>
          <p:cNvSpPr/>
          <p:nvPr/>
        </p:nvSpPr>
        <p:spPr>
          <a:xfrm>
            <a:off x="566028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s3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23"/>
          <p:cNvSpPr/>
          <p:nvPr/>
        </p:nvSpPr>
        <p:spPr>
          <a:xfrm>
            <a:off x="628200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s4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24"/>
          <p:cNvSpPr/>
          <p:nvPr/>
        </p:nvSpPr>
        <p:spPr>
          <a:xfrm>
            <a:off x="690372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s5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25"/>
          <p:cNvSpPr/>
          <p:nvPr/>
        </p:nvSpPr>
        <p:spPr>
          <a:xfrm>
            <a:off x="752544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26"/>
          <p:cNvSpPr/>
          <p:nvPr/>
        </p:nvSpPr>
        <p:spPr>
          <a:xfrm>
            <a:off x="8147160" y="2926080"/>
            <a:ext cx="548280" cy="68544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s7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7"/>
          <p:cNvSpPr/>
          <p:nvPr/>
        </p:nvSpPr>
        <p:spPr>
          <a:xfrm>
            <a:off x="3657600" y="37033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Fixed 320 B slots  •  hdr + 256 B inline + 8 × handle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28"/>
          <p:cNvCxnSpPr/>
          <p:nvPr/>
        </p:nvCxnSpPr>
        <p:spPr>
          <a:xfrm>
            <a:off x="3246120" y="3108960"/>
            <a:ext cx="366120" cy="360"/>
          </a:xfrm>
          <a:prstGeom prst="bentConnector2">
            <a:avLst/>
          </a:prstGeom>
          <a:ln>
            <a:solidFill>
              <a:srgbClr val="2e8b8b"/>
            </a:solidFill>
            <a:round/>
          </a:ln>
        </p:spPr>
      </p:cxnSp>
      <p:cxnSp>
        <p:nvCxnSpPr>
          <p:cNvPr id="321" name="Connector 29"/>
          <p:cNvCxnSpPr/>
          <p:nvPr/>
        </p:nvCxnSpPr>
        <p:spPr>
          <a:xfrm>
            <a:off x="8823960" y="3108960"/>
            <a:ext cx="457560" cy="360"/>
          </a:xfrm>
          <a:prstGeom prst="bentConnector2">
            <a:avLst/>
          </a:prstGeom>
          <a:ln>
            <a:solidFill>
              <a:srgbClr val="2e8b8b"/>
            </a:solidFill>
            <a:round/>
          </a:ln>
        </p:spPr>
      </p:cxnSp>
      <p:sp>
        <p:nvSpPr>
          <p:cNvPr id="322" name="TextBox 30"/>
          <p:cNvSpPr/>
          <p:nvPr/>
        </p:nvSpPr>
        <p:spPr>
          <a:xfrm>
            <a:off x="640080" y="4572000"/>
            <a:ext cx="10972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Two CAP_KIND_CHANNEL cap_objects per channel — read endpoint + write endpoint.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chan_send with mismatched type_hash → −EPROTOTYPE + audit entry.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Atomic handle transfer: handles moved out of sender's table into the slot, then into receiver.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TASK_STATE_CHAN_WAIT + per-tick deadline scan give timeouts without calibration.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Virtual Memory Objects (VMOs)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Named, refcounted physical frames. Copy-on-write — the speculation substrate.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328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10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640080" y="1828800"/>
            <a:ext cx="3108600" cy="292572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190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9"/>
          <p:cNvSpPr/>
          <p:nvPr/>
        </p:nvSpPr>
        <p:spPr>
          <a:xfrm>
            <a:off x="640080" y="19202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Parent VMO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10"/>
          <p:cNvSpPr/>
          <p:nvPr/>
        </p:nvSpPr>
        <p:spPr>
          <a:xfrm>
            <a:off x="822960" y="237744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11"/>
          <p:cNvSpPr/>
          <p:nvPr/>
        </p:nvSpPr>
        <p:spPr>
          <a:xfrm>
            <a:off x="2240280" y="237744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12"/>
          <p:cNvSpPr/>
          <p:nvPr/>
        </p:nvSpPr>
        <p:spPr>
          <a:xfrm>
            <a:off x="822960" y="338328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13"/>
          <p:cNvSpPr/>
          <p:nvPr/>
        </p:nvSpPr>
        <p:spPr>
          <a:xfrm>
            <a:off x="2240280" y="338328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4"/>
          <p:cNvSpPr/>
          <p:nvPr/>
        </p:nvSpPr>
        <p:spPr>
          <a:xfrm>
            <a:off x="8412480" y="1828800"/>
            <a:ext cx="3108600" cy="2925720"/>
          </a:xfrm>
          <a:prstGeom prst="roundRect">
            <a:avLst>
              <a:gd name="adj" fmla="val 16667"/>
            </a:avLst>
          </a:prstGeom>
          <a:solidFill>
            <a:srgbClr val="faefdd"/>
          </a:solidFill>
          <a:ln w="190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8412480" y="19202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COW Child VMO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16"/>
          <p:cNvSpPr/>
          <p:nvPr/>
        </p:nvSpPr>
        <p:spPr>
          <a:xfrm>
            <a:off x="8595360" y="237744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0 (RO)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17"/>
          <p:cNvSpPr/>
          <p:nvPr/>
        </p:nvSpPr>
        <p:spPr>
          <a:xfrm>
            <a:off x="10012680" y="237744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1 (RO)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18"/>
          <p:cNvSpPr/>
          <p:nvPr/>
        </p:nvSpPr>
        <p:spPr>
          <a:xfrm>
            <a:off x="8595360" y="338328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2 (RO)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19"/>
          <p:cNvSpPr/>
          <p:nvPr/>
        </p:nvSpPr>
        <p:spPr>
          <a:xfrm>
            <a:off x="10012680" y="3383280"/>
            <a:ext cx="12340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page 3 (RO)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20"/>
          <p:cNvSpPr/>
          <p:nvPr/>
        </p:nvSpPr>
        <p:spPr>
          <a:xfrm>
            <a:off x="5029200" y="2743200"/>
            <a:ext cx="2102760" cy="1188360"/>
          </a:xfrm>
          <a:prstGeom prst="rect">
            <a:avLst/>
          </a:prstGeom>
          <a:solidFill>
            <a:srgbClr val="e6eee1"/>
          </a:solidFill>
          <a:ln w="19050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Shared physical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frame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pp_refcount = 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3" name="Connector 21"/>
          <p:cNvCxnSpPr/>
          <p:nvPr/>
        </p:nvCxnSpPr>
        <p:spPr>
          <a:xfrm>
            <a:off x="3840480" y="3246120"/>
            <a:ext cx="1143360" cy="360"/>
          </a:xfrm>
          <a:prstGeom prst="bentConnector2">
            <a:avLst/>
          </a:prstGeom>
          <a:ln w="22225">
            <a:solidFill>
              <a:srgbClr val="2e8b8b"/>
            </a:solidFill>
            <a:round/>
          </a:ln>
        </p:spPr>
      </p:cxnSp>
      <p:cxnSp>
        <p:nvCxnSpPr>
          <p:cNvPr id="344" name="Connector 22"/>
          <p:cNvCxnSpPr/>
          <p:nvPr/>
        </p:nvCxnSpPr>
        <p:spPr>
          <a:xfrm rot="10800000">
            <a:off x="7178040" y="3246120"/>
            <a:ext cx="1189080" cy="360"/>
          </a:xfrm>
          <a:prstGeom prst="bentConnector2">
            <a:avLst/>
          </a:prstGeom>
          <a:ln w="22225">
            <a:solidFill>
              <a:srgbClr val="2e8b8b"/>
            </a:solidFill>
            <a:round/>
          </a:ln>
        </p:spPr>
      </p:cxnSp>
      <p:sp>
        <p:nvSpPr>
          <p:cNvPr id="345" name="TextBox 23"/>
          <p:cNvSpPr/>
          <p:nvPr/>
        </p:nvSpPr>
        <p:spPr>
          <a:xfrm>
            <a:off x="640080" y="49377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Why VMOs matter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4"/>
          <p:cNvSpPr/>
          <p:nvPr/>
        </p:nvSpPr>
        <p:spPr>
          <a:xfrm>
            <a:off x="640080" y="5257800"/>
            <a:ext cx="1097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Zero-copy shared memory between kernel and userspace (HHDM direct-map).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COW isolation: write to a shared frame triggers private-copy via page-fault handler.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Per-physical-page refcount (1 byte parallel to PMM bitmap).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Substrate for Phase 25 speculative transactions — "try and roll back" for free.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Submission Streams — Async I/O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io_uring-style batching, GCP-native. Every op manifest-validated.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1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352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11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8"/>
          <p:cNvSpPr/>
          <p:nvPr/>
        </p:nvSpPr>
        <p:spPr>
          <a:xfrm>
            <a:off x="548640" y="2286000"/>
            <a:ext cx="2102760" cy="1828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Userspace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producer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9"/>
          <p:cNvSpPr/>
          <p:nvPr/>
        </p:nvSpPr>
        <p:spPr>
          <a:xfrm>
            <a:off x="3017520" y="1828800"/>
            <a:ext cx="2377080" cy="1371240"/>
          </a:xfrm>
          <a:prstGeom prst="roundRect">
            <a:avLst>
              <a:gd name="adj" fmla="val 16667"/>
            </a:avLst>
          </a:prstGeom>
          <a:solidFill>
            <a:srgbClr val="dce8f4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SQ VMO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(sqe_t 64 B × N)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10"/>
          <p:cNvSpPr/>
          <p:nvPr/>
        </p:nvSpPr>
        <p:spPr>
          <a:xfrm>
            <a:off x="5760720" y="2286000"/>
            <a:ext cx="2194200" cy="1828440"/>
          </a:xfrm>
          <a:prstGeom prst="roundRect">
            <a:avLst>
              <a:gd name="adj" fmla="val 16667"/>
            </a:avLst>
          </a:prstGeom>
          <a:solidFill>
            <a:srgbClr val="faefd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Kernel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worker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thread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1"/>
          <p:cNvSpPr/>
          <p:nvPr/>
        </p:nvSpPr>
        <p:spPr>
          <a:xfrm>
            <a:off x="8321040" y="1828800"/>
            <a:ext cx="2377080" cy="1371240"/>
          </a:xfrm>
          <a:prstGeom prst="roundRect">
            <a:avLst>
              <a:gd name="adj" fmla="val 16667"/>
            </a:avLst>
          </a:prstGeom>
          <a:solidFill>
            <a:srgbClr val="e6eee1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CQ VMO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(cqe_t 32 B × 2N)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12"/>
          <p:cNvSpPr/>
          <p:nvPr/>
        </p:nvSpPr>
        <p:spPr>
          <a:xfrm>
            <a:off x="10972800" y="2286000"/>
            <a:ext cx="731160" cy="1828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User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reaps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9" name="Connector 13"/>
          <p:cNvCxnSpPr/>
          <p:nvPr/>
        </p:nvCxnSpPr>
        <p:spPr>
          <a:xfrm>
            <a:off x="2697480" y="2514600"/>
            <a:ext cx="320400" cy="360"/>
          </a:xfrm>
          <a:prstGeom prst="bentConnector2">
            <a:avLst/>
          </a:prstGeom>
          <a:ln>
            <a:solidFill>
              <a:srgbClr val="2e8b8b"/>
            </a:solidFill>
            <a:round/>
          </a:ln>
        </p:spPr>
      </p:cxnSp>
      <p:sp>
        <p:nvSpPr>
          <p:cNvPr id="360" name="TextBox 14"/>
          <p:cNvSpPr/>
          <p:nvPr/>
        </p:nvSpPr>
        <p:spPr>
          <a:xfrm>
            <a:off x="2560320" y="2057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SQEs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Connector 15"/>
          <p:cNvCxnSpPr/>
          <p:nvPr/>
        </p:nvCxnSpPr>
        <p:spPr>
          <a:xfrm>
            <a:off x="5440680" y="2514600"/>
            <a:ext cx="320400" cy="360"/>
          </a:xfrm>
          <a:prstGeom prst="bentConnector2">
            <a:avLst/>
          </a:prstGeom>
          <a:ln w="22225">
            <a:solidFill>
              <a:srgbClr val="1b365d"/>
            </a:solidFill>
            <a:round/>
          </a:ln>
        </p:spPr>
      </p:cxnSp>
      <p:cxnSp>
        <p:nvCxnSpPr>
          <p:cNvPr id="362" name="Connector 16"/>
          <p:cNvCxnSpPr/>
          <p:nvPr/>
        </p:nvCxnSpPr>
        <p:spPr>
          <a:xfrm>
            <a:off x="8001000" y="2514600"/>
            <a:ext cx="320400" cy="360"/>
          </a:xfrm>
          <a:prstGeom prst="bentConnector2">
            <a:avLst/>
          </a:prstGeom>
          <a:ln w="22225">
            <a:solidFill>
              <a:srgbClr val="1b365d"/>
            </a:solidFill>
            <a:round/>
          </a:ln>
        </p:spPr>
      </p:cxnSp>
      <p:sp>
        <p:nvSpPr>
          <p:cNvPr id="363" name="TextBox 17"/>
          <p:cNvSpPr/>
          <p:nvPr/>
        </p:nvSpPr>
        <p:spPr>
          <a:xfrm>
            <a:off x="7635240" y="2057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CQEs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4" name="Connector 18"/>
          <p:cNvCxnSpPr/>
          <p:nvPr/>
        </p:nvCxnSpPr>
        <p:spPr>
          <a:xfrm>
            <a:off x="10744200" y="2514600"/>
            <a:ext cx="274680" cy="360"/>
          </a:xfrm>
          <a:prstGeom prst="bentConnector2">
            <a:avLst/>
          </a:prstGeom>
          <a:ln>
            <a:solidFill>
              <a:srgbClr val="2e8b8b"/>
            </a:solidFill>
            <a:round/>
          </a:ln>
        </p:spPr>
      </p:cxnSp>
      <p:sp>
        <p:nvSpPr>
          <p:cNvPr id="365" name="TextBox 19"/>
          <p:cNvSpPr/>
          <p:nvPr/>
        </p:nvSpPr>
        <p:spPr>
          <a:xfrm>
            <a:off x="548640" y="420624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f9b"/>
                </a:solidFill>
                <a:effectLst/>
                <a:uFillTx/>
                <a:latin typeface="Consolas"/>
              </a:rPr>
              <a:t>head @ offset 0   |   tail @ offset 128   |   entries from page 1   (cache-line separated)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0"/>
          <p:cNvSpPr/>
          <p:nvPr/>
        </p:nvSpPr>
        <p:spPr>
          <a:xfrm>
            <a:off x="548640" y="4617720"/>
            <a:ext cx="110638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One SYS_STREAM_SUBMIT can hand off thousands of ops — amortizes user/kernel crossings.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SQE type-validated against the stream's manifest at kernel entry.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Per-op pledge check; bad ops get inline CQE with −EPROTOTYPE or −EPLEDGE.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ACQUIRE / RELEASE on head/tail — io_uring memory discipline, documented in stream.h.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Optional notify channel: non-blocking event loop without polling.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GrahaFS — Filesystem with AI Semantics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AI metadata and similarity clustering are first-class.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1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372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12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8"/>
          <p:cNvSpPr/>
          <p:nvPr/>
        </p:nvSpPr>
        <p:spPr>
          <a:xfrm>
            <a:off x="548640" y="1691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On-disk structure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9"/>
          <p:cNvSpPr/>
          <p:nvPr/>
        </p:nvSpPr>
        <p:spPr>
          <a:xfrm>
            <a:off x="548640" y="2103120"/>
            <a:ext cx="5303160" cy="7311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10"/>
          <p:cNvSpPr/>
          <p:nvPr/>
        </p:nvSpPr>
        <p:spPr>
          <a:xfrm>
            <a:off x="731520" y="21945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Superblock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1"/>
          <p:cNvSpPr/>
          <p:nvPr/>
        </p:nvSpPr>
        <p:spPr>
          <a:xfrm>
            <a:off x="731520" y="24962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magic, sizes, free bitmap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12"/>
          <p:cNvSpPr/>
          <p:nvPr/>
        </p:nvSpPr>
        <p:spPr>
          <a:xfrm>
            <a:off x="548640" y="2926080"/>
            <a:ext cx="5303160" cy="7311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13"/>
          <p:cNvSpPr/>
          <p:nvPr/>
        </p:nvSpPr>
        <p:spPr>
          <a:xfrm>
            <a:off x="731520" y="30175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Inode table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4"/>
          <p:cNvSpPr/>
          <p:nvPr/>
        </p:nvSpPr>
        <p:spPr>
          <a:xfrm>
            <a:off x="731520" y="33192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256-byte inodes (not 128)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15"/>
          <p:cNvSpPr/>
          <p:nvPr/>
        </p:nvSpPr>
        <p:spPr>
          <a:xfrm>
            <a:off x="548640" y="3749040"/>
            <a:ext cx="5303160" cy="7311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16"/>
          <p:cNvSpPr/>
          <p:nvPr/>
        </p:nvSpPr>
        <p:spPr>
          <a:xfrm>
            <a:off x="731520" y="38404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Extended meta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7"/>
          <p:cNvSpPr/>
          <p:nvPr/>
        </p:nvSpPr>
        <p:spPr>
          <a:xfrm>
            <a:off x="731520" y="41421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tags, importance, ai_embedding[128]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18"/>
          <p:cNvSpPr/>
          <p:nvPr/>
        </p:nvSpPr>
        <p:spPr>
          <a:xfrm>
            <a:off x="548640" y="4572000"/>
            <a:ext cx="5303160" cy="7311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19"/>
          <p:cNvSpPr/>
          <p:nvPr/>
        </p:nvSpPr>
        <p:spPr>
          <a:xfrm>
            <a:off x="731520" y="46634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Data blocks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20"/>
          <p:cNvSpPr/>
          <p:nvPr/>
        </p:nvSpPr>
        <p:spPr>
          <a:xfrm>
            <a:off x="731520" y="49651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4 KiB each; 48 KiB file cap → Phase 19 fixes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1"/>
          <p:cNvSpPr/>
          <p:nvPr/>
        </p:nvSpPr>
        <p:spPr>
          <a:xfrm>
            <a:off x="6217920" y="1691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SimHash Clustering (Phase 11)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2"/>
          <p:cNvSpPr/>
          <p:nvPr/>
        </p:nvSpPr>
        <p:spPr>
          <a:xfrm>
            <a:off x="6217920" y="2103120"/>
            <a:ext cx="54860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64-bit fingerprint per file (FNV-1a over 3-char shingles).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Sequential-leader clustering: Hamming distance ≤ 10 → same cluster.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Cluster IDs stored in inode's ai_reserved[].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Background indexer task scans root every 3 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/illu/ directory for deterministic files (no auto-cluster).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23"/>
          <p:cNvSpPr/>
          <p:nvPr/>
        </p:nvSpPr>
        <p:spPr>
          <a:xfrm>
            <a:off x="548640" y="5715000"/>
            <a:ext cx="11063880" cy="68544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24"/>
          <p:cNvSpPr/>
          <p:nvPr/>
        </p:nvSpPr>
        <p:spPr>
          <a:xfrm>
            <a:off x="777240" y="576072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simhash("hello world this is a test") = 0x7F2A4B…  |  popcount(a ^ b) = Hamming distance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5"/>
          <p:cNvSpPr/>
          <p:nvPr/>
        </p:nvSpPr>
        <p:spPr>
          <a:xfrm>
            <a:off x="777240" y="606240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OS-level similarity — no external ML dependency.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AI as a First-Class Citizen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Not bolted on. Baked in at the filesystem and speculation layers.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6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397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13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8"/>
          <p:cNvSpPr/>
          <p:nvPr/>
        </p:nvSpPr>
        <p:spPr>
          <a:xfrm>
            <a:off x="548640" y="1828800"/>
            <a:ext cx="5486040" cy="20570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9"/>
          <p:cNvSpPr/>
          <p:nvPr/>
        </p:nvSpPr>
        <p:spPr>
          <a:xfrm>
            <a:off x="777240" y="19659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grahai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0"/>
          <p:cNvSpPr/>
          <p:nvPr/>
        </p:nvSpPr>
        <p:spPr>
          <a:xfrm>
            <a:off x="777240" y="237744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Embedded AI agent process. Calls Gemini via in-kernel TCP/IP stack (Phase 9e).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1"/>
          <p:cNvSpPr/>
          <p:nvPr/>
        </p:nvSpPr>
        <p:spPr>
          <a:xfrm>
            <a:off x="777240" y="33375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PLEDGE_AI_CALL + audit log entry per invoke.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2"/>
          <p:cNvSpPr/>
          <p:nvPr/>
        </p:nvSpPr>
        <p:spPr>
          <a:xfrm>
            <a:off x="6263640" y="1828800"/>
            <a:ext cx="5486040" cy="20570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13"/>
          <p:cNvSpPr/>
          <p:nvPr/>
        </p:nvSpPr>
        <p:spPr>
          <a:xfrm>
            <a:off x="6492240" y="19659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ai_metadata on every file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4"/>
          <p:cNvSpPr/>
          <p:nvPr/>
        </p:nvSpPr>
        <p:spPr>
          <a:xfrm>
            <a:off x="6492240" y="237744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tags[], importance score, ai_embedding[128], last_ai_touched.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5"/>
          <p:cNvSpPr/>
          <p:nvPr/>
        </p:nvSpPr>
        <p:spPr>
          <a:xfrm>
            <a:off x="6492240" y="33375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Queryable via SYS_SET_AI_METADATA / SYS_GET_AI_METADATA.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ounded Rectangle 16"/>
          <p:cNvSpPr/>
          <p:nvPr/>
        </p:nvSpPr>
        <p:spPr>
          <a:xfrm>
            <a:off x="548640" y="4069080"/>
            <a:ext cx="5486040" cy="20570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17"/>
          <p:cNvSpPr/>
          <p:nvPr/>
        </p:nvSpPr>
        <p:spPr>
          <a:xfrm>
            <a:off x="777240" y="42062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SimHash similarity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8"/>
          <p:cNvSpPr/>
          <p:nvPr/>
        </p:nvSpPr>
        <p:spPr>
          <a:xfrm>
            <a:off x="777240" y="461772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Find near-duplicate files in Hamming distance — no external embedding service.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19"/>
          <p:cNvSpPr/>
          <p:nvPr/>
        </p:nvSpPr>
        <p:spPr>
          <a:xfrm>
            <a:off x="777240" y="5577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OS surfaces cluster membership as metadata.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20"/>
          <p:cNvSpPr/>
          <p:nvPr/>
        </p:nvSpPr>
        <p:spPr>
          <a:xfrm>
            <a:off x="6263640" y="4069080"/>
            <a:ext cx="5486040" cy="20570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21"/>
          <p:cNvSpPr/>
          <p:nvPr/>
        </p:nvSpPr>
        <p:spPr>
          <a:xfrm>
            <a:off x="6492240" y="42062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Speculative execution  (Phase 25)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2"/>
          <p:cNvSpPr/>
          <p:nvPr/>
        </p:nvSpPr>
        <p:spPr>
          <a:xfrm>
            <a:off x="6492240" y="461772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Transactions on COW VMO snapshots. AI tries a change; OS rolls back cleanly if wrong.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3"/>
          <p:cNvSpPr/>
          <p:nvPr/>
        </p:nvSpPr>
        <p:spPr>
          <a:xfrm>
            <a:off x="6492240" y="55778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This is the differentiator — every other OS nails 'safety' but not safe exploration.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The Spec-Driven Workflow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Every phase starts as a YAML spec. No speculative coding.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9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420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14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8"/>
          <p:cNvSpPr/>
          <p:nvPr/>
        </p:nvSpPr>
        <p:spPr>
          <a:xfrm>
            <a:off x="54864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Oval 9"/>
          <p:cNvSpPr/>
          <p:nvPr/>
        </p:nvSpPr>
        <p:spPr>
          <a:xfrm>
            <a:off x="118872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0"/>
          <p:cNvSpPr/>
          <p:nvPr/>
        </p:nvSpPr>
        <p:spPr>
          <a:xfrm>
            <a:off x="59436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YAML spec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1"/>
          <p:cNvSpPr/>
          <p:nvPr/>
        </p:nvSpPr>
        <p:spPr>
          <a:xfrm>
            <a:off x="64008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specs/phase-NN.yml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actor workflows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manual verification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6" name="Connector 12"/>
          <p:cNvCxnSpPr/>
          <p:nvPr/>
        </p:nvCxnSpPr>
        <p:spPr>
          <a:xfrm>
            <a:off x="2304000" y="3200400"/>
            <a:ext cx="146880" cy="360"/>
          </a:xfrm>
          <a:prstGeom prst="bentConnector2">
            <a:avLst/>
          </a:prstGeom>
          <a:ln w="19050">
            <a:solidFill>
              <a:srgbClr val="2e8b8b"/>
            </a:solidFill>
            <a:round/>
          </a:ln>
        </p:spPr>
      </p:cxnSp>
      <p:sp>
        <p:nvSpPr>
          <p:cNvPr id="427" name="Rounded Rectangle 13"/>
          <p:cNvSpPr/>
          <p:nvPr/>
        </p:nvSpPr>
        <p:spPr>
          <a:xfrm>
            <a:off x="246888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Oval 14"/>
          <p:cNvSpPr/>
          <p:nvPr/>
        </p:nvSpPr>
        <p:spPr>
          <a:xfrm>
            <a:off x="310896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5"/>
          <p:cNvSpPr/>
          <p:nvPr/>
        </p:nvSpPr>
        <p:spPr>
          <a:xfrm>
            <a:off x="251460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Implement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6"/>
          <p:cNvSpPr/>
          <p:nvPr/>
        </p:nvSpPr>
        <p:spPr>
          <a:xfrm>
            <a:off x="256032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new source files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struct + syscall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manifests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1" name="Connector 17"/>
          <p:cNvCxnSpPr/>
          <p:nvPr/>
        </p:nvCxnSpPr>
        <p:spPr>
          <a:xfrm>
            <a:off x="4224240" y="3200400"/>
            <a:ext cx="146880" cy="360"/>
          </a:xfrm>
          <a:prstGeom prst="bentConnector2">
            <a:avLst/>
          </a:prstGeom>
          <a:ln w="19050">
            <a:solidFill>
              <a:srgbClr val="2e8b8b"/>
            </a:solidFill>
            <a:round/>
          </a:ln>
        </p:spPr>
      </p:cxnSp>
      <p:sp>
        <p:nvSpPr>
          <p:cNvPr id="432" name="Rounded Rectangle 18"/>
          <p:cNvSpPr/>
          <p:nvPr/>
        </p:nvSpPr>
        <p:spPr>
          <a:xfrm>
            <a:off x="438912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Oval 19"/>
          <p:cNvSpPr/>
          <p:nvPr/>
        </p:nvSpPr>
        <p:spPr>
          <a:xfrm>
            <a:off x="502920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0"/>
          <p:cNvSpPr/>
          <p:nvPr/>
        </p:nvSpPr>
        <p:spPr>
          <a:xfrm>
            <a:off x="443484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TAP tests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1"/>
          <p:cNvSpPr/>
          <p:nvPr/>
        </p:nvSpPr>
        <p:spPr>
          <a:xfrm>
            <a:off x="448056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make test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gate_tests_passing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stability iters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6" name="Connector 22"/>
          <p:cNvCxnSpPr/>
          <p:nvPr/>
        </p:nvCxnSpPr>
        <p:spPr>
          <a:xfrm>
            <a:off x="6144480" y="3200400"/>
            <a:ext cx="146880" cy="360"/>
          </a:xfrm>
          <a:prstGeom prst="bentConnector2">
            <a:avLst/>
          </a:prstGeom>
          <a:ln w="19050">
            <a:solidFill>
              <a:srgbClr val="2e8b8b"/>
            </a:solidFill>
            <a:round/>
          </a:ln>
        </p:spPr>
      </p:cxnSp>
      <p:sp>
        <p:nvSpPr>
          <p:cNvPr id="437" name="Rounded Rectangle 23"/>
          <p:cNvSpPr/>
          <p:nvPr/>
        </p:nvSpPr>
        <p:spPr>
          <a:xfrm>
            <a:off x="630936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Oval 24"/>
          <p:cNvSpPr/>
          <p:nvPr/>
        </p:nvSpPr>
        <p:spPr>
          <a:xfrm>
            <a:off x="694944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5"/>
          <p:cNvSpPr/>
          <p:nvPr/>
        </p:nvSpPr>
        <p:spPr>
          <a:xfrm>
            <a:off x="635508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Manual VP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26"/>
          <p:cNvSpPr/>
          <p:nvPr/>
        </p:nvSpPr>
        <p:spPr>
          <a:xfrm>
            <a:off x="640080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shell commands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exact expected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outputs match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Connector 27"/>
          <p:cNvCxnSpPr/>
          <p:nvPr/>
        </p:nvCxnSpPr>
        <p:spPr>
          <a:xfrm>
            <a:off x="8064720" y="3200400"/>
            <a:ext cx="146880" cy="360"/>
          </a:xfrm>
          <a:prstGeom prst="bentConnector2">
            <a:avLst/>
          </a:prstGeom>
          <a:ln w="19050">
            <a:solidFill>
              <a:srgbClr val="2e8b8b"/>
            </a:solidFill>
            <a:round/>
          </a:ln>
        </p:spPr>
      </p:cxnSp>
      <p:sp>
        <p:nvSpPr>
          <p:cNvPr id="442" name="Rounded Rectangle 28"/>
          <p:cNvSpPr/>
          <p:nvPr/>
        </p:nvSpPr>
        <p:spPr>
          <a:xfrm>
            <a:off x="822960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Oval 29"/>
          <p:cNvSpPr/>
          <p:nvPr/>
        </p:nvSpPr>
        <p:spPr>
          <a:xfrm>
            <a:off x="886968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0"/>
          <p:cNvSpPr/>
          <p:nvPr/>
        </p:nvSpPr>
        <p:spPr>
          <a:xfrm>
            <a:off x="827532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Audit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1"/>
          <p:cNvSpPr/>
          <p:nvPr/>
        </p:nvSpPr>
        <p:spPr>
          <a:xfrm>
            <a:off x="832104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problems_faced.md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audit_log.json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per-issue root cause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6" name="Connector 32"/>
          <p:cNvCxnSpPr/>
          <p:nvPr/>
        </p:nvCxnSpPr>
        <p:spPr>
          <a:xfrm>
            <a:off x="9984960" y="3200400"/>
            <a:ext cx="146880" cy="360"/>
          </a:xfrm>
          <a:prstGeom prst="bentConnector2">
            <a:avLst/>
          </a:prstGeom>
          <a:ln w="19050">
            <a:solidFill>
              <a:srgbClr val="2e8b8b"/>
            </a:solidFill>
            <a:round/>
          </a:ln>
        </p:spPr>
      </p:cxnSp>
      <p:sp>
        <p:nvSpPr>
          <p:cNvPr id="447" name="Rounded Rectangle 33"/>
          <p:cNvSpPr/>
          <p:nvPr/>
        </p:nvSpPr>
        <p:spPr>
          <a:xfrm>
            <a:off x="10149840" y="2011680"/>
            <a:ext cx="1737000" cy="23770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Oval 34"/>
          <p:cNvSpPr/>
          <p:nvPr/>
        </p:nvSpPr>
        <p:spPr>
          <a:xfrm>
            <a:off x="10789920" y="2148840"/>
            <a:ext cx="502560" cy="50256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35"/>
          <p:cNvSpPr/>
          <p:nvPr/>
        </p:nvSpPr>
        <p:spPr>
          <a:xfrm>
            <a:off x="10195560" y="2743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Gate next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36"/>
          <p:cNvSpPr/>
          <p:nvPr/>
        </p:nvSpPr>
        <p:spPr>
          <a:xfrm>
            <a:off x="10241280" y="306324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only start N+1 after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N exit-criteria green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37"/>
          <p:cNvSpPr/>
          <p:nvPr/>
        </p:nvSpPr>
        <p:spPr>
          <a:xfrm>
            <a:off x="548640" y="5120640"/>
            <a:ext cx="11063880" cy="118836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38"/>
          <p:cNvSpPr/>
          <p:nvPr/>
        </p:nvSpPr>
        <p:spPr>
          <a:xfrm>
            <a:off x="822960" y="52578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Why this works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39"/>
          <p:cNvSpPr/>
          <p:nvPr/>
        </p:nvSpPr>
        <p:spPr>
          <a:xfrm>
            <a:off x="822960" y="5623560"/>
            <a:ext cx="10606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Every phase has a reviewable YAML contract before a line of C is written. Every audit entry in problems_faced.md becomes an invariant for future phases — we know why the code is the way it is.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Testing &amp; Verification Floor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TAP 1.4. Every spec has a manual_verification section. make test exits zero or fails.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8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459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15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ounded Rectangle 8"/>
          <p:cNvSpPr/>
          <p:nvPr/>
        </p:nvSpPr>
        <p:spPr>
          <a:xfrm>
            <a:off x="548640" y="1828800"/>
            <a:ext cx="214848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f7a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9"/>
          <p:cNvSpPr/>
          <p:nvPr/>
        </p:nvSpPr>
        <p:spPr>
          <a:xfrm>
            <a:off x="548640" y="1965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f7a4e"/>
                </a:solidFill>
                <a:effectLst/>
                <a:uFillTx/>
                <a:latin typeface="Calibri"/>
              </a:rPr>
              <a:t>399/399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0"/>
          <p:cNvSpPr/>
          <p:nvPr/>
        </p:nvSpPr>
        <p:spPr>
          <a:xfrm>
            <a:off x="54864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assertions passing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ounded Rectangle 11"/>
          <p:cNvSpPr/>
          <p:nvPr/>
        </p:nvSpPr>
        <p:spPr>
          <a:xfrm>
            <a:off x="2834640" y="1828800"/>
            <a:ext cx="214848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12"/>
          <p:cNvSpPr/>
          <p:nvPr/>
        </p:nvSpPr>
        <p:spPr>
          <a:xfrm>
            <a:off x="2834640" y="1965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31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3"/>
          <p:cNvSpPr/>
          <p:nvPr/>
        </p:nvSpPr>
        <p:spPr>
          <a:xfrm>
            <a:off x="283464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TAP test files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14"/>
          <p:cNvSpPr/>
          <p:nvPr/>
        </p:nvSpPr>
        <p:spPr>
          <a:xfrm>
            <a:off x="5120640" y="1828800"/>
            <a:ext cx="214848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f7a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5"/>
          <p:cNvSpPr/>
          <p:nvPr/>
        </p:nvSpPr>
        <p:spPr>
          <a:xfrm>
            <a:off x="5120640" y="1965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f7a4e"/>
                </a:solidFill>
                <a:effectLst/>
                <a:uFillTx/>
                <a:latin typeface="Calibri"/>
              </a:rPr>
              <a:t>15/15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6"/>
          <p:cNvSpPr/>
          <p:nvPr/>
        </p:nvSpPr>
        <p:spPr>
          <a:xfrm>
            <a:off x="512064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stability iterations clean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ounded Rectangle 17"/>
          <p:cNvSpPr/>
          <p:nvPr/>
        </p:nvSpPr>
        <p:spPr>
          <a:xfrm>
            <a:off x="7406640" y="1828800"/>
            <a:ext cx="214848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18"/>
          <p:cNvSpPr/>
          <p:nvPr/>
        </p:nvSpPr>
        <p:spPr>
          <a:xfrm>
            <a:off x="7406640" y="1965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26s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9"/>
          <p:cNvSpPr/>
          <p:nvPr/>
        </p:nvSpPr>
        <p:spPr>
          <a:xfrm>
            <a:off x="740664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full suite wall time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ounded Rectangle 20"/>
          <p:cNvSpPr/>
          <p:nvPr/>
        </p:nvSpPr>
        <p:spPr>
          <a:xfrm>
            <a:off x="9692640" y="1828800"/>
            <a:ext cx="214848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882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1"/>
          <p:cNvSpPr/>
          <p:nvPr/>
        </p:nvSpPr>
        <p:spPr>
          <a:xfrm>
            <a:off x="9692640" y="1965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c88228"/>
                </a:solidFill>
                <a:effectLst/>
                <a:uFillTx/>
                <a:latin typeface="Calibri"/>
              </a:rPr>
              <a:t>9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2"/>
          <p:cNvSpPr/>
          <p:nvPr/>
        </p:nvSpPr>
        <p:spPr>
          <a:xfrm>
            <a:off x="9692640" y="260604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issues logged in phase 18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23"/>
          <p:cNvSpPr/>
          <p:nvPr/>
        </p:nvSpPr>
        <p:spPr>
          <a:xfrm>
            <a:off x="548640" y="34290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Structure per phase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24"/>
          <p:cNvSpPr/>
          <p:nvPr/>
        </p:nvSpPr>
        <p:spPr>
          <a:xfrm>
            <a:off x="548640" y="3840480"/>
            <a:ext cx="54860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unit_tests — isolated property checks.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integration_tests — full-system workflows.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fault_injection_tests — deliberate failures.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stress_tests — soak at scale.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gate: yes  vs  gate: no per entry.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5"/>
          <p:cNvSpPr/>
          <p:nvPr/>
        </p:nvSpPr>
        <p:spPr>
          <a:xfrm>
            <a:off x="6492240" y="3429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Notable tests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6"/>
          <p:cNvSpPr/>
          <p:nvPr/>
        </p:nvSpPr>
        <p:spPr>
          <a:xfrm>
            <a:off x="6492240" y="3840480"/>
            <a:ext cx="51202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sentinel_meta proves the harness catches failures.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cantest_v2 (37) / captest_v2 (42) — capability lifecycle.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chantest (24) / vmotest (18) — Phase 17 IPC substrate.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streamtest (22) — Phase 18 async I/O correctness.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•  </a:t>
            </a: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canstress 100× cap cycle — no stuck IRQs.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Phases Completed (0 → 18)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Boot to Phase 18 async I/O — 18 substantial spec-driven milestones.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4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485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16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8"/>
          <p:cNvSpPr/>
          <p:nvPr/>
        </p:nvSpPr>
        <p:spPr>
          <a:xfrm>
            <a:off x="548640" y="1691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Foundation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ounded Rectangle 9"/>
          <p:cNvSpPr/>
          <p:nvPr/>
        </p:nvSpPr>
        <p:spPr>
          <a:xfrm>
            <a:off x="548640" y="2057400"/>
            <a:ext cx="5303160" cy="685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10"/>
          <p:cNvSpPr/>
          <p:nvPr/>
        </p:nvSpPr>
        <p:spPr>
          <a:xfrm>
            <a:off x="731520" y="210312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P0–7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1"/>
          <p:cNvSpPr/>
          <p:nvPr/>
        </p:nvSpPr>
        <p:spPr>
          <a:xfrm>
            <a:off x="1554480" y="22035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Bootloader, GDT/IDT, PMM/VMM, sched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ounded Rectangle 12"/>
          <p:cNvSpPr/>
          <p:nvPr/>
        </p:nvSpPr>
        <p:spPr>
          <a:xfrm>
            <a:off x="548640" y="2834640"/>
            <a:ext cx="5303160" cy="685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13"/>
          <p:cNvSpPr/>
          <p:nvPr/>
        </p:nvSpPr>
        <p:spPr>
          <a:xfrm>
            <a:off x="731520" y="28803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P8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14"/>
          <p:cNvSpPr/>
          <p:nvPr/>
        </p:nvSpPr>
        <p:spPr>
          <a:xfrm>
            <a:off x="1554480" y="29808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CAN registry + drivers (kb/fb/lapic)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15"/>
          <p:cNvSpPr/>
          <p:nvPr/>
        </p:nvSpPr>
        <p:spPr>
          <a:xfrm>
            <a:off x="548640" y="3611880"/>
            <a:ext cx="5303160" cy="685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16"/>
          <p:cNvSpPr/>
          <p:nvPr/>
        </p:nvSpPr>
        <p:spPr>
          <a:xfrm>
            <a:off x="731520" y="36576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P9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17"/>
          <p:cNvSpPr/>
          <p:nvPr/>
        </p:nvSpPr>
        <p:spPr>
          <a:xfrm>
            <a:off x="1554480" y="37580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E1000 + Mongoose TCP/IP + HTTPS + DNS + Gemini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18"/>
          <p:cNvSpPr/>
          <p:nvPr/>
        </p:nvSpPr>
        <p:spPr>
          <a:xfrm>
            <a:off x="548640" y="4389120"/>
            <a:ext cx="5303160" cy="685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19"/>
          <p:cNvSpPr/>
          <p:nvPr/>
        </p:nvSpPr>
        <p:spPr>
          <a:xfrm>
            <a:off x="731520" y="443484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P10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20"/>
          <p:cNvSpPr/>
          <p:nvPr/>
        </p:nvSpPr>
        <p:spPr>
          <a:xfrm>
            <a:off x="1554480" y="45352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Per-process FDs + pipes + redirects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ounded Rectangle 21"/>
          <p:cNvSpPr/>
          <p:nvPr/>
        </p:nvSpPr>
        <p:spPr>
          <a:xfrm>
            <a:off x="548640" y="5166360"/>
            <a:ext cx="5303160" cy="68544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22"/>
          <p:cNvSpPr/>
          <p:nvPr/>
        </p:nvSpPr>
        <p:spPr>
          <a:xfrm>
            <a:off x="731520" y="521208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P11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23"/>
          <p:cNvSpPr/>
          <p:nvPr/>
        </p:nvSpPr>
        <p:spPr>
          <a:xfrm>
            <a:off x="1554480" y="5312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SimHash + sequential-leader clustering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24"/>
          <p:cNvSpPr/>
          <p:nvPr/>
        </p:nvSpPr>
        <p:spPr>
          <a:xfrm>
            <a:off x="6400800" y="1691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Recent — spec-driven cycle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ounded Rectangle 25"/>
          <p:cNvSpPr/>
          <p:nvPr/>
        </p:nvSpPr>
        <p:spPr>
          <a:xfrm>
            <a:off x="6400800" y="205740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TextBox 26"/>
          <p:cNvSpPr/>
          <p:nvPr/>
        </p:nvSpPr>
        <p:spPr>
          <a:xfrm>
            <a:off x="6583680" y="21121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P12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27"/>
          <p:cNvSpPr/>
          <p:nvPr/>
        </p:nvSpPr>
        <p:spPr>
          <a:xfrm>
            <a:off x="7498080" y="21304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Test harness + TAP 1.4 floor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Rounded Rectangle 28"/>
          <p:cNvSpPr/>
          <p:nvPr/>
        </p:nvSpPr>
        <p:spPr>
          <a:xfrm>
            <a:off x="6400800" y="256032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Box 29"/>
          <p:cNvSpPr/>
          <p:nvPr/>
        </p:nvSpPr>
        <p:spPr>
          <a:xfrm>
            <a:off x="6583680" y="2615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P13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30"/>
          <p:cNvSpPr/>
          <p:nvPr/>
        </p:nvSpPr>
        <p:spPr>
          <a:xfrm>
            <a:off x="7498080" y="263340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Structured logging + panic/oops dump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ounded Rectangle 31"/>
          <p:cNvSpPr/>
          <p:nvPr/>
        </p:nvSpPr>
        <p:spPr>
          <a:xfrm>
            <a:off x="6400800" y="306324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TextBox 32"/>
          <p:cNvSpPr/>
          <p:nvPr/>
        </p:nvSpPr>
        <p:spPr>
          <a:xfrm>
            <a:off x="6583680" y="3117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P14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33"/>
          <p:cNvSpPr/>
          <p:nvPr/>
        </p:nvSpPr>
        <p:spPr>
          <a:xfrm>
            <a:off x="7498080" y="31363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Slab + kheap + per-CPU (NUMA-ready)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ounded Rectangle 34"/>
          <p:cNvSpPr/>
          <p:nvPr/>
        </p:nvSpPr>
        <p:spPr>
          <a:xfrm>
            <a:off x="6400800" y="356616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35"/>
          <p:cNvSpPr/>
          <p:nvPr/>
        </p:nvSpPr>
        <p:spPr>
          <a:xfrm>
            <a:off x="6583680" y="3620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P15a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36"/>
          <p:cNvSpPr/>
          <p:nvPr/>
        </p:nvSpPr>
        <p:spPr>
          <a:xfrm>
            <a:off x="7498080" y="36392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Capability Objects v2 (tokens, gen, audience)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37"/>
          <p:cNvSpPr/>
          <p:nvPr/>
        </p:nvSpPr>
        <p:spPr>
          <a:xfrm>
            <a:off x="6400800" y="406908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38"/>
          <p:cNvSpPr/>
          <p:nvPr/>
        </p:nvSpPr>
        <p:spPr>
          <a:xfrm>
            <a:off x="6583680" y="41238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P15b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39"/>
          <p:cNvSpPr/>
          <p:nvPr/>
        </p:nvSpPr>
        <p:spPr>
          <a:xfrm>
            <a:off x="7498080" y="414216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Pledges + persistent audit log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40"/>
          <p:cNvSpPr/>
          <p:nvPr/>
        </p:nvSpPr>
        <p:spPr>
          <a:xfrm>
            <a:off x="6400800" y="457200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41"/>
          <p:cNvSpPr/>
          <p:nvPr/>
        </p:nvSpPr>
        <p:spPr>
          <a:xfrm>
            <a:off x="6583680" y="46267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P16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42"/>
          <p:cNvSpPr/>
          <p:nvPr/>
        </p:nvSpPr>
        <p:spPr>
          <a:xfrm>
            <a:off x="7498080" y="46450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CAN callbacks → physical hardware control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ounded Rectangle 43"/>
          <p:cNvSpPr/>
          <p:nvPr/>
        </p:nvSpPr>
        <p:spPr>
          <a:xfrm>
            <a:off x="6400800" y="507492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44"/>
          <p:cNvSpPr/>
          <p:nvPr/>
        </p:nvSpPr>
        <p:spPr>
          <a:xfrm>
            <a:off x="6583680" y="51296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P17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45"/>
          <p:cNvSpPr/>
          <p:nvPr/>
        </p:nvSpPr>
        <p:spPr>
          <a:xfrm>
            <a:off x="7498080" y="514800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Channels + VMOs + handle-passing IPC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ounded Rectangle 46"/>
          <p:cNvSpPr/>
          <p:nvPr/>
        </p:nvSpPr>
        <p:spPr>
          <a:xfrm>
            <a:off x="6400800" y="5577840"/>
            <a:ext cx="5303160" cy="438480"/>
          </a:xfrm>
          <a:prstGeom prst="roundRect">
            <a:avLst>
              <a:gd name="adj" fmla="val 16667"/>
            </a:avLst>
          </a:prstGeom>
          <a:solidFill>
            <a:srgbClr val="d4e5d8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47"/>
          <p:cNvSpPr/>
          <p:nvPr/>
        </p:nvSpPr>
        <p:spPr>
          <a:xfrm>
            <a:off x="6583680" y="56325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P18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48"/>
          <p:cNvSpPr/>
          <p:nvPr/>
        </p:nvSpPr>
        <p:spPr>
          <a:xfrm>
            <a:off x="7498080" y="56509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f7a4e"/>
                </a:solidFill>
                <a:effectLst/>
                <a:uFillTx/>
                <a:latin typeface="Calibri"/>
              </a:rPr>
              <a:t>Submission Streams (async I/O)  ← current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Roadmap 19 → 28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Toward an MVP: versioned FS, userspace drivers, speculation, Wasmtime, TUI.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2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533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17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Rounded Rectangle 8"/>
          <p:cNvSpPr/>
          <p:nvPr/>
        </p:nvSpPr>
        <p:spPr>
          <a:xfrm>
            <a:off x="548640" y="18288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Rectangle 9"/>
          <p:cNvSpPr/>
          <p:nvPr/>
        </p:nvSpPr>
        <p:spPr>
          <a:xfrm>
            <a:off x="594360" y="18288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P19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10"/>
          <p:cNvSpPr/>
          <p:nvPr/>
        </p:nvSpPr>
        <p:spPr>
          <a:xfrm>
            <a:off x="1325880" y="18655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GrahaFS v2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11"/>
          <p:cNvSpPr/>
          <p:nvPr/>
        </p:nvSpPr>
        <p:spPr>
          <a:xfrm>
            <a:off x="1325880" y="20847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versioned segments + full data journaling; async_read consumed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Rounded Rectangle 12"/>
          <p:cNvSpPr/>
          <p:nvPr/>
        </p:nvSpPr>
        <p:spPr>
          <a:xfrm>
            <a:off x="6217920" y="18288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Rectangle 13"/>
          <p:cNvSpPr/>
          <p:nvPr/>
        </p:nvSpPr>
        <p:spPr>
          <a:xfrm>
            <a:off x="6263640" y="18288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P20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14"/>
          <p:cNvSpPr/>
          <p:nvPr/>
        </p:nvSpPr>
        <p:spPr>
          <a:xfrm>
            <a:off x="6995160" y="18655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Per-CPU scheduler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5"/>
          <p:cNvSpPr/>
          <p:nvPr/>
        </p:nvSpPr>
        <p:spPr>
          <a:xfrm>
            <a:off x="6995160" y="20847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work-stealing runqueues; resource limits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16"/>
          <p:cNvSpPr/>
          <p:nvPr/>
        </p:nvSpPr>
        <p:spPr>
          <a:xfrm>
            <a:off x="548640" y="26244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Rectangle 17"/>
          <p:cNvSpPr/>
          <p:nvPr/>
        </p:nvSpPr>
        <p:spPr>
          <a:xfrm>
            <a:off x="594360" y="26244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P21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8"/>
          <p:cNvSpPr/>
          <p:nvPr/>
        </p:nvSpPr>
        <p:spPr>
          <a:xfrm>
            <a:off x="1325880" y="26607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Userspace driver framework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9"/>
          <p:cNvSpPr/>
          <p:nvPr/>
        </p:nvSpPr>
        <p:spPr>
          <a:xfrm>
            <a:off x="1325880" y="28803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e1000 migration out of kernel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ounded Rectangle 20"/>
          <p:cNvSpPr/>
          <p:nvPr/>
        </p:nvSpPr>
        <p:spPr>
          <a:xfrm>
            <a:off x="6217920" y="26244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Rectangle 21"/>
          <p:cNvSpPr/>
          <p:nvPr/>
        </p:nvSpPr>
        <p:spPr>
          <a:xfrm>
            <a:off x="6263640" y="26244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P22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22"/>
          <p:cNvSpPr/>
          <p:nvPr/>
        </p:nvSpPr>
        <p:spPr>
          <a:xfrm>
            <a:off x="6995160" y="26607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In-tree TCP/IP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3"/>
          <p:cNvSpPr/>
          <p:nvPr/>
        </p:nvSpPr>
        <p:spPr>
          <a:xfrm>
            <a:off x="6995160" y="28803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replace 19 k-line Mongoose; ARP/IPv4/UDP/TCP-Reno/DHCP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24"/>
          <p:cNvSpPr/>
          <p:nvPr/>
        </p:nvSpPr>
        <p:spPr>
          <a:xfrm>
            <a:off x="548640" y="34200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Rectangle 25"/>
          <p:cNvSpPr/>
          <p:nvPr/>
        </p:nvSpPr>
        <p:spPr>
          <a:xfrm>
            <a:off x="594360" y="34200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P23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26"/>
          <p:cNvSpPr/>
          <p:nvPr/>
        </p:nvSpPr>
        <p:spPr>
          <a:xfrm>
            <a:off x="1325880" y="34563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AHCI userspace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27"/>
          <p:cNvSpPr/>
          <p:nvPr/>
        </p:nvSpPr>
        <p:spPr>
          <a:xfrm>
            <a:off x="1325880" y="3675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interrupt-driven block I/O; completes drivers-outward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ounded Rectangle 28"/>
          <p:cNvSpPr/>
          <p:nvPr/>
        </p:nvSpPr>
        <p:spPr>
          <a:xfrm>
            <a:off x="6217920" y="342000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Rectangle 29"/>
          <p:cNvSpPr/>
          <p:nvPr/>
        </p:nvSpPr>
        <p:spPr>
          <a:xfrm>
            <a:off x="6263640" y="342000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P24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30"/>
          <p:cNvSpPr/>
          <p:nvPr/>
        </p:nvSpPr>
        <p:spPr>
          <a:xfrm>
            <a:off x="6995160" y="34563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COW snapshot subsystem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31"/>
          <p:cNvSpPr/>
          <p:nvPr/>
        </p:nvSpPr>
        <p:spPr>
          <a:xfrm>
            <a:off x="6995160" y="3675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whole-process snapshots on VMO infra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Rounded Rectangle 32"/>
          <p:cNvSpPr/>
          <p:nvPr/>
        </p:nvSpPr>
        <p:spPr>
          <a:xfrm>
            <a:off x="548640" y="421524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Rectangle 33"/>
          <p:cNvSpPr/>
          <p:nvPr/>
        </p:nvSpPr>
        <p:spPr>
          <a:xfrm>
            <a:off x="594360" y="421524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P25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34"/>
          <p:cNvSpPr/>
          <p:nvPr/>
        </p:nvSpPr>
        <p:spPr>
          <a:xfrm>
            <a:off x="1325880" y="4251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Speculative execution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35"/>
          <p:cNvSpPr/>
          <p:nvPr/>
        </p:nvSpPr>
        <p:spPr>
          <a:xfrm>
            <a:off x="1325880" y="4471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transactions on snapshots — the AI-exploration primitive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ounded Rectangle 36"/>
          <p:cNvSpPr/>
          <p:nvPr/>
        </p:nvSpPr>
        <p:spPr>
          <a:xfrm>
            <a:off x="6217920" y="421524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Rectangle 37"/>
          <p:cNvSpPr/>
          <p:nvPr/>
        </p:nvSpPr>
        <p:spPr>
          <a:xfrm>
            <a:off x="6263640" y="421524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P26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38"/>
          <p:cNvSpPr/>
          <p:nvPr/>
        </p:nvSpPr>
        <p:spPr>
          <a:xfrm>
            <a:off x="6995160" y="4251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Wasmtime userspace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39"/>
          <p:cNvSpPr/>
          <p:nvPr/>
        </p:nvSpPr>
        <p:spPr>
          <a:xfrm>
            <a:off x="6995160" y="4471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GCP as WIT; Rust user programs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Rounded Rectangle 40"/>
          <p:cNvSpPr/>
          <p:nvPr/>
        </p:nvSpPr>
        <p:spPr>
          <a:xfrm>
            <a:off x="548640" y="501084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Rectangle 41"/>
          <p:cNvSpPr/>
          <p:nvPr/>
        </p:nvSpPr>
        <p:spPr>
          <a:xfrm>
            <a:off x="594360" y="501084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P27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42"/>
          <p:cNvSpPr/>
          <p:nvPr/>
        </p:nvSpPr>
        <p:spPr>
          <a:xfrm>
            <a:off x="1325880" y="5047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TUI framework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43"/>
          <p:cNvSpPr/>
          <p:nvPr/>
        </p:nvSpPr>
        <p:spPr>
          <a:xfrm>
            <a:off x="1325880" y="52668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virtual consoles + widgets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Rounded Rectangle 44"/>
          <p:cNvSpPr/>
          <p:nvPr/>
        </p:nvSpPr>
        <p:spPr>
          <a:xfrm>
            <a:off x="6217920" y="5010840"/>
            <a:ext cx="5577480" cy="5025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6350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Rectangle 45"/>
          <p:cNvSpPr/>
          <p:nvPr/>
        </p:nvSpPr>
        <p:spPr>
          <a:xfrm>
            <a:off x="6263640" y="5010840"/>
            <a:ext cx="639720" cy="50256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P28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46"/>
          <p:cNvSpPr/>
          <p:nvPr/>
        </p:nvSpPr>
        <p:spPr>
          <a:xfrm>
            <a:off x="6995160" y="5047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MVP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47"/>
          <p:cNvSpPr/>
          <p:nvPr/>
        </p:nvSpPr>
        <p:spPr>
          <a:xfrm>
            <a:off x="6995160" y="52668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TUI-first shell + AI polish + 1-hour stress bench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48"/>
          <p:cNvSpPr/>
          <p:nvPr/>
        </p:nvSpPr>
        <p:spPr>
          <a:xfrm>
            <a:off x="548640" y="6217920"/>
            <a:ext cx="11063880" cy="502560"/>
          </a:xfrm>
          <a:prstGeom prst="rect">
            <a:avLst/>
          </a:prstGeom>
          <a:solidFill>
            <a:srgbClr val="2e8b8b"/>
          </a:solidFill>
          <a:ln w="15875"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Box 49"/>
          <p:cNvSpPr/>
          <p:nvPr/>
        </p:nvSpPr>
        <p:spPr>
          <a:xfrm>
            <a:off x="731520" y="629100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25 is the thesis: snapshots + COW VMO + transactional channels = safe AI speculation.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Key Novel Contributions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What's actually new — vs. Unix / Linux / microkernels / io_uring.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1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582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18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ounded Rectangle 8"/>
          <p:cNvSpPr/>
          <p:nvPr/>
        </p:nvSpPr>
        <p:spPr>
          <a:xfrm>
            <a:off x="548640" y="1737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Diamond 9"/>
          <p:cNvSpPr/>
          <p:nvPr/>
        </p:nvSpPr>
        <p:spPr>
          <a:xfrm>
            <a:off x="731520" y="2030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10"/>
          <p:cNvSpPr/>
          <p:nvPr/>
        </p:nvSpPr>
        <p:spPr>
          <a:xfrm>
            <a:off x="1280160" y="1847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No users, no root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11"/>
          <p:cNvSpPr/>
          <p:nvPr/>
        </p:nvSpPr>
        <p:spPr>
          <a:xfrm>
            <a:off x="1280160" y="2240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Identity = bundle of cap_tokens. uid/gid/root never existed.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ounded Rectangle 12"/>
          <p:cNvSpPr/>
          <p:nvPr/>
        </p:nvSpPr>
        <p:spPr>
          <a:xfrm>
            <a:off x="6217920" y="1737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Diamond 13"/>
          <p:cNvSpPr/>
          <p:nvPr/>
        </p:nvSpPr>
        <p:spPr>
          <a:xfrm>
            <a:off x="6400800" y="2030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TextBox 14"/>
          <p:cNvSpPr/>
          <p:nvPr/>
        </p:nvSpPr>
        <p:spPr>
          <a:xfrm>
            <a:off x="6949440" y="1847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Dual authority (cap + pledge)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15"/>
          <p:cNvSpPr/>
          <p:nvPr/>
        </p:nvSpPr>
        <p:spPr>
          <a:xfrm>
            <a:off x="6949440" y="2240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Caps say CAN now. Pledges say WILL ever again. Orthogonal.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ounded Rectangle 16"/>
          <p:cNvSpPr/>
          <p:nvPr/>
        </p:nvSpPr>
        <p:spPr>
          <a:xfrm>
            <a:off x="548640" y="2880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Diamond 17"/>
          <p:cNvSpPr/>
          <p:nvPr/>
        </p:nvSpPr>
        <p:spPr>
          <a:xfrm>
            <a:off x="731520" y="3173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18"/>
          <p:cNvSpPr/>
          <p:nvPr/>
        </p:nvSpPr>
        <p:spPr>
          <a:xfrm>
            <a:off x="1280160" y="2990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GCP as sole public interface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19"/>
          <p:cNvSpPr/>
          <p:nvPr/>
        </p:nvSpPr>
        <p:spPr>
          <a:xfrm>
            <a:off x="1280160" y="3383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syscall and message validates against JSON manifest at entry.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ounded Rectangle 20"/>
          <p:cNvSpPr/>
          <p:nvPr/>
        </p:nvSpPr>
        <p:spPr>
          <a:xfrm>
            <a:off x="6217920" y="2880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Diamond 21"/>
          <p:cNvSpPr/>
          <p:nvPr/>
        </p:nvSpPr>
        <p:spPr>
          <a:xfrm>
            <a:off x="6400800" y="3173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22"/>
          <p:cNvSpPr/>
          <p:nvPr/>
        </p:nvSpPr>
        <p:spPr>
          <a:xfrm>
            <a:off x="6949440" y="2990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Manifest-typed channels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23"/>
          <p:cNvSpPr/>
          <p:nvPr/>
        </p:nvSpPr>
        <p:spPr>
          <a:xfrm>
            <a:off x="6949440" y="3383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Ambient-authority pipes dead. Every message type-hash-anchored.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ounded Rectangle 24"/>
          <p:cNvSpPr/>
          <p:nvPr/>
        </p:nvSpPr>
        <p:spPr>
          <a:xfrm>
            <a:off x="548640" y="4023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Diamond 25"/>
          <p:cNvSpPr/>
          <p:nvPr/>
        </p:nvSpPr>
        <p:spPr>
          <a:xfrm>
            <a:off x="731520" y="4316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TextBox 26"/>
          <p:cNvSpPr/>
          <p:nvPr/>
        </p:nvSpPr>
        <p:spPr>
          <a:xfrm>
            <a:off x="1280160" y="4133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Speculation as OS primitive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27"/>
          <p:cNvSpPr/>
          <p:nvPr/>
        </p:nvSpPr>
        <p:spPr>
          <a:xfrm>
            <a:off x="1280160" y="4526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COW VMOs + snapshots + transactional channels (coming P24–25).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ounded Rectangle 28"/>
          <p:cNvSpPr/>
          <p:nvPr/>
        </p:nvSpPr>
        <p:spPr>
          <a:xfrm>
            <a:off x="6217920" y="4023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Diamond 29"/>
          <p:cNvSpPr/>
          <p:nvPr/>
        </p:nvSpPr>
        <p:spPr>
          <a:xfrm>
            <a:off x="6400800" y="4316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30"/>
          <p:cNvSpPr/>
          <p:nvPr/>
        </p:nvSpPr>
        <p:spPr>
          <a:xfrm>
            <a:off x="6949440" y="4133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Generated ABI — kernel ↔ user single-source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31"/>
          <p:cNvSpPr/>
          <p:nvPr/>
        </p:nvSpPr>
        <p:spPr>
          <a:xfrm>
            <a:off x="6949440" y="4526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gen_manifest.py emits both sides. Drift impossible.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ounded Rectangle 32"/>
          <p:cNvSpPr/>
          <p:nvPr/>
        </p:nvSpPr>
        <p:spPr>
          <a:xfrm>
            <a:off x="548640" y="5166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Diamond 33"/>
          <p:cNvSpPr/>
          <p:nvPr/>
        </p:nvSpPr>
        <p:spPr>
          <a:xfrm>
            <a:off x="731520" y="5459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0" name="TextBox 34"/>
          <p:cNvSpPr/>
          <p:nvPr/>
        </p:nvSpPr>
        <p:spPr>
          <a:xfrm>
            <a:off x="1280160" y="5276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AI metadata in the filesystem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35"/>
          <p:cNvSpPr/>
          <p:nvPr/>
        </p:nvSpPr>
        <p:spPr>
          <a:xfrm>
            <a:off x="1280160" y="5669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tags, importance, embeddings, SimHash clusters — native.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ounded Rectangle 36"/>
          <p:cNvSpPr/>
          <p:nvPr/>
        </p:nvSpPr>
        <p:spPr>
          <a:xfrm>
            <a:off x="6217920" y="516636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Diamond 37"/>
          <p:cNvSpPr/>
          <p:nvPr/>
        </p:nvSpPr>
        <p:spPr>
          <a:xfrm>
            <a:off x="6400800" y="5459040"/>
            <a:ext cx="411120" cy="41112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TextBox 38"/>
          <p:cNvSpPr/>
          <p:nvPr/>
        </p:nvSpPr>
        <p:spPr>
          <a:xfrm>
            <a:off x="6949440" y="5276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Everything auditable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39"/>
          <p:cNvSpPr/>
          <p:nvPr/>
        </p:nvSpPr>
        <p:spPr>
          <a:xfrm>
            <a:off x="6949440" y="56692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Caps, pledges, stream rejections, VMO faults — all in /var/audit.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1b3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TextBox 3"/>
          <p:cNvSpPr/>
          <p:nvPr/>
        </p:nvSpPr>
        <p:spPr>
          <a:xfrm>
            <a:off x="548640" y="3200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Conclusion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4"/>
          <p:cNvSpPr/>
          <p:nvPr/>
        </p:nvSpPr>
        <p:spPr>
          <a:xfrm>
            <a:off x="548640" y="932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e8b8b"/>
                </a:solidFill>
                <a:effectLst/>
                <a:uFillTx/>
                <a:latin typeface="Calibri"/>
              </a:rPr>
              <a:t>An AI-native OS built the slow way — spec first, test floor high.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0" name="Connector 5"/>
          <p:cNvCxnSpPr/>
          <p:nvPr/>
        </p:nvCxnSpPr>
        <p:spPr>
          <a:xfrm>
            <a:off x="548640" y="1417320"/>
            <a:ext cx="11064600" cy="360"/>
          </a:xfrm>
          <a:prstGeom prst="straightConnector1">
            <a:avLst/>
          </a:prstGeom>
          <a:ln w="15875">
            <a:solidFill>
              <a:srgbClr val="cfd6de"/>
            </a:solidFill>
            <a:round/>
          </a:ln>
        </p:spPr>
      </p:cxnSp>
      <p:sp>
        <p:nvSpPr>
          <p:cNvPr id="621" name="TextBox 6"/>
          <p:cNvSpPr/>
          <p:nvPr/>
        </p:nvSpPr>
        <p:spPr>
          <a:xfrm>
            <a:off x="548640" y="649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GrahaOS — Capability-First AI-Native OS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10058400" y="6492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f9b"/>
                </a:solidFill>
                <a:effectLst/>
                <a:uFillTx/>
                <a:latin typeface="Calibri"/>
              </a:rPr>
              <a:t>19 / 19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ounded Rectangle 8"/>
          <p:cNvSpPr/>
          <p:nvPr/>
        </p:nvSpPr>
        <p:spPr>
          <a:xfrm>
            <a:off x="640080" y="1783080"/>
            <a:ext cx="10881000" cy="9597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9"/>
          <p:cNvSpPr/>
          <p:nvPr/>
        </p:nvSpPr>
        <p:spPr>
          <a:xfrm>
            <a:off x="868680" y="18745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Where we are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10"/>
          <p:cNvSpPr/>
          <p:nvPr/>
        </p:nvSpPr>
        <p:spPr>
          <a:xfrm>
            <a:off x="868680" y="224028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Phases 0–18 complete. 399/399 tests. Async I/O shipped. Kernel ready to shed drivers.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ounded Rectangle 11"/>
          <p:cNvSpPr/>
          <p:nvPr/>
        </p:nvSpPr>
        <p:spPr>
          <a:xfrm>
            <a:off x="640080" y="2880360"/>
            <a:ext cx="10881000" cy="9597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12"/>
          <p:cNvSpPr/>
          <p:nvPr/>
        </p:nvSpPr>
        <p:spPr>
          <a:xfrm>
            <a:off x="868680" y="29718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What's next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13"/>
          <p:cNvSpPr/>
          <p:nvPr/>
        </p:nvSpPr>
        <p:spPr>
          <a:xfrm>
            <a:off x="868680" y="333756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Phase 19 versioned FS, then drivers-outward (P21–23), then speculation (P24–25).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ounded Rectangle 14"/>
          <p:cNvSpPr/>
          <p:nvPr/>
        </p:nvSpPr>
        <p:spPr>
          <a:xfrm>
            <a:off x="640080" y="3977640"/>
            <a:ext cx="10881000" cy="95976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15"/>
          <p:cNvSpPr/>
          <p:nvPr/>
        </p:nvSpPr>
        <p:spPr>
          <a:xfrm>
            <a:off x="868680" y="40690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b365d"/>
                </a:solidFill>
                <a:effectLst/>
                <a:uFillTx/>
                <a:latin typeface="Calibri"/>
              </a:rPr>
              <a:t>Why it matters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6"/>
          <p:cNvSpPr/>
          <p:nvPr/>
        </p:nvSpPr>
        <p:spPr>
          <a:xfrm>
            <a:off x="868680" y="4434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c4a5b"/>
                </a:solidFill>
                <a:effectLst/>
                <a:uFillTx/>
                <a:latin typeface="Calibri"/>
              </a:rPr>
              <a:t>Every other OS treats AI as an app. We treat AI as a user class with its own safety needs.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17"/>
          <p:cNvSpPr/>
          <p:nvPr/>
        </p:nvSpPr>
        <p:spPr>
          <a:xfrm>
            <a:off x="640080" y="5303520"/>
            <a:ext cx="10881000" cy="109692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18"/>
          <p:cNvSpPr/>
          <p:nvPr/>
        </p:nvSpPr>
        <p:spPr>
          <a:xfrm>
            <a:off x="640080" y="54406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19"/>
          <p:cNvSpPr/>
          <p:nvPr/>
        </p:nvSpPr>
        <p:spPr>
          <a:xfrm>
            <a:off x="640080" y="59893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bcde2"/>
                </a:solidFill>
                <a:effectLst/>
                <a:uFillTx/>
                <a:latin typeface="Calibri"/>
              </a:rPr>
              <a:t>Questions?  —  github.com/B-Divyesh/GrahaOS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2026-04-19T21:08:41Z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