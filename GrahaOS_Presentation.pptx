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2E8B8B"/>
          </a:solidFill>
          <a:ln w="1587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7223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1B365D"/>
                </a:solidFill>
                <a:latin typeface="Calibri"/>
              </a:rPr>
              <a:t>GrahaOS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E8B8B"/>
                </a:solidFill>
                <a:latin typeface="Calibri"/>
              </a:rPr>
              <a:t>A Capability-First, AI-Native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83464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A5B"/>
                </a:solidFill>
                <a:latin typeface="Calibri"/>
              </a:rPr>
              <a:t>Built from scratch  •  x86_64  •  Modular monolith → hybrid microkernel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520440"/>
            <a:ext cx="7132320" cy="0"/>
          </a:xfrm>
          <a:prstGeom prst="line">
            <a:avLst/>
          </a:prstGeom>
          <a:ln w="127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0" y="3703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8B8B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Divyesh Bine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069080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A5B"/>
                </a:solidFill>
                <a:latin typeface="Consolas"/>
              </a:rPr>
              <a:t>100522733073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406908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8F9B"/>
                </a:solidFill>
                <a:latin typeface="Calibri"/>
              </a:rPr>
              <a:t>CSE Sem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80560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Farhan Ahmed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480560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A5B"/>
                </a:solidFill>
                <a:latin typeface="Consolas"/>
              </a:rPr>
              <a:t>100522733079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448056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8F9B"/>
                </a:solidFill>
                <a:latin typeface="Calibri"/>
              </a:rPr>
              <a:t>CSE Sem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92040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Abraar Ahmed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892040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A5B"/>
                </a:solidFill>
                <a:latin typeface="Consolas"/>
              </a:rPr>
              <a:t>100522733075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89204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8F9B"/>
                </a:solidFill>
                <a:latin typeface="Calibri"/>
              </a:rPr>
              <a:t>CSE Sem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E8B8B"/>
                </a:solidFill>
                <a:latin typeface="Calibri"/>
              </a:rPr>
              <a:t>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Project Showcase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BCDE2"/>
                </a:solidFill>
                <a:latin typeface="Calibri"/>
              </a:rPr>
              <a:t>A research-grade OS written
spec-first, test-driven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CDE2"/>
                </a:solidFill>
                <a:latin typeface="Calibri"/>
              </a:rPr>
              <a:t>Phases 0–18 complete  •  399/399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Why a New Operating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The assumptions underneath Unix are 50 years old.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What current OSes were designed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4864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Multi-user timesharing on expensive hardware (1970s).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Users, uid/gid, root — ambient authority.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Fork + exec, signals, blocking read()/write().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Files-as-bytes: no semantic meaning at OS level.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Drivers welded into the kernel for speed.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What modern workloads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2120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AI agents are a new class of user — must be sandboxable.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Authority should be explicit, revocable, audit-traceable.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Batched async I/O — syscalls cost too much per op.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The OS should understand file semantics (type hashes, embeddings).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8B8B"/>
                </a:solidFill>
                <a:latin typeface="Calibri"/>
              </a:rPr>
              <a:t>•  </a:t>
            </a:r>
            <a:r>
              <a:rPr sz="1600" b="0">
                <a:solidFill>
                  <a:srgbClr val="3C4A5B"/>
                </a:solidFill>
                <a:latin typeface="Calibri"/>
              </a:rPr>
              <a:t>Safe speculation: 'try this and roll back if wrong'.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GrahaOS rebuilds the kernel around capabilities, manifests, and speculation — native, not bolted-on.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The Seven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Every spec file must uphold at least two of these and violate none.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5349240" cy="105156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847088"/>
            <a:ext cx="548640" cy="54864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Capabilities are the sole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488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No ambient auth. No users. Identity = tokens held.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5349240" cy="105156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1847088"/>
            <a:ext cx="548640" cy="54864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73736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GCP is the only native public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1488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Every syscall manifest-typed. POSIX is optional userspace.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88920"/>
            <a:ext cx="5349240" cy="105156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2990088"/>
            <a:ext cx="548640" cy="54864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8036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Foundation before 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Lay new primitives, then move old callers behind shims.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788920"/>
            <a:ext cx="5349240" cy="105156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2990088"/>
            <a:ext cx="548640" cy="54864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88036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Failure is auditable, not silent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2918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Panics dump structured frames. Violations hit the audit log.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5349240" cy="105156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4133088"/>
            <a:ext cx="548640" cy="54864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02336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Everything is testable by 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4348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Every spec has manual_verification with exact commands.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931920"/>
            <a:ext cx="5349240" cy="105156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20" y="4133088"/>
            <a:ext cx="548640" cy="54864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02336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Drivers drift outward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4348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Kernel keeps VMM/sched/interrupts. Net/FS/block migrate out.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74920"/>
            <a:ext cx="5349240" cy="105156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5276088"/>
            <a:ext cx="548640" cy="54864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16636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Speculation is a first-class AI primitive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5778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Versioned FS + snapshots + txn channels = safe AI exploration.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Modular monolith today, hybrid microkernel by Phase 23.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4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E8B8B"/>
                </a:solidFill>
                <a:latin typeface="Calibri"/>
              </a:rPr>
              <a:t>USERSPACE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11680"/>
            <a:ext cx="466344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gash / grahai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688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shell + AI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71800"/>
            <a:ext cx="466344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063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ktest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TAP test harness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466344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233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libc / libtap / libgcp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89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thin libraries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466344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983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Future drivers (P21-23)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349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net / AHCI / block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28800"/>
            <a:ext cx="50292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B365D"/>
                </a:solidFill>
                <a:latin typeface="Calibri"/>
              </a:rPr>
              <a:t>KERNEL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011680"/>
            <a:ext cx="466344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cap/ + io/ + ipc/ + mm/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4688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Tokens • Pledges • Channels • VMOs • Streams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971800"/>
            <a:ext cx="466344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063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fs/ — VFS + GrahaFS + SimHash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4290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AI-metadata native, async_read hooks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931920"/>
            <a:ext cx="466344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0233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arch/x86_64/ — scheduler + VMM + PMM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389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TASK_STATE_CHAN_WAIT, HHDM mapping, per-CPU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892040"/>
            <a:ext cx="466344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983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drivers (in-kernel today, leaving P21-23)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349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AHCI / e1000 / lapic / keyboard / fb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60720" y="2880360"/>
            <a:ext cx="594360" cy="0"/>
          </a:xfrm>
          <a:prstGeom prst="bentConnector3">
            <a:avLst/>
          </a:prstGeom>
          <a:ln w="28575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50992" y="25603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E8B8B"/>
                </a:solidFill>
                <a:latin typeface="Calibri"/>
              </a:rPr>
              <a:t>IPC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C4A5B"/>
                </a:solidFill>
                <a:latin typeface="Calibri"/>
              </a:rPr>
              <a:t>Kernel boundary moves outward each phase. Today it owns scheduler + MM + drivers. Phase 21-23: drivers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Capabilities as the Sole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No users. No uid/gid. No root. Identity = bundle of tokens held.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cap_token_t — 64 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2743200" cy="1097280"/>
          </a:xfrm>
          <a:prstGeom prst="rect">
            <a:avLst/>
          </a:prstGeom>
          <a:solidFill>
            <a:srgbClr val="DCE8F4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Generation</a:t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32 bits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194560"/>
            <a:ext cx="2103120" cy="1097280"/>
          </a:xfrm>
          <a:prstGeom prst="rect">
            <a:avLst/>
          </a:prstGeom>
          <a:solidFill>
            <a:srgbClr val="CCE3DE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Object Index</a:t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24 bits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194560"/>
            <a:ext cx="914400" cy="1097280"/>
          </a:xfrm>
          <a:prstGeom prst="rect">
            <a:avLst/>
          </a:prstGeom>
          <a:solidFill>
            <a:srgbClr val="F0D6BE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Flags</a:t>
            </a:r>
          </a:p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8F9B"/>
                </a:solidFill>
                <a:latin typeface="Calibri"/>
              </a:rPr>
              <a:t>Passed by value in registers. Never heap-allocated.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8B8B"/>
                </a:solidFill>
                <a:latin typeface="Calibri"/>
              </a:rPr>
              <a:t>Resolve path (hot)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57607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Atomic-acquire load generation → compare → reject if stale.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Check calling pid in audience_set (CAP_FLAG_PUBLIC bypass).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Bitmask AND check on rights (READ / WRITE / DERIVE / …).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No locks. ~20–30 cycles typical.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Key properties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194560"/>
            <a:ext cx="493776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286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Derivable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3347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Narrow rights / audience into child caps; tree tracked.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200400"/>
            <a:ext cx="493776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291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Revocable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63931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Single gen++ invalidates all outstanding tokens (O(1)).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206240"/>
            <a:ext cx="493776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2976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Audience-scoped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64515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Audience set is per-capability; privacy-preserving filter.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5212080"/>
            <a:ext cx="4937760" cy="8686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53035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Kind-dispatched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65099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CHANNEL, VMO, STREAM, FILE, PROC — each has a deactivator.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Pledges — The Second Authority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'What WILL this process ever do again?' — monotonically narrowing.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48640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Capability answers: CAN do this now?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Pledge answers: WILL ever do this again?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Narrow-only: drop PLEDGE_FS_WRITE once → permanent.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Reset only on SYS_SPAWN (new child, fresh subset).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Every sensitive syscall = one AND + one compare.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12 Classes (16-bit mask)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14884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FS_READ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597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files 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4884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1945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FS_WRITE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4597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files write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14884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1945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NET_CLIENT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4597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outbound 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88036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NET_SERVER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9125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listen/bind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88036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2926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SPAWN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19125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create processes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88036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926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IPC_SEND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19125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channel send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61188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65760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IPC_RECV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2277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channel recv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61188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365760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SYS_QUERY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92277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read kernel state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361188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365760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SYS_CONTROL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92277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reboot / kill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434340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389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AI_CALL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65429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AI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34340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4389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COMPUTE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465429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CPU + memory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4343400"/>
            <a:ext cx="1600200" cy="64008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4389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65D"/>
                </a:solidFill>
                <a:latin typeface="Calibri"/>
              </a:rPr>
              <a:t>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465429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sleep / clock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989320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onsolas"/>
              </a:rPr>
              <a:t>pledge_allows(task, CLASS)  =  (mask.raw &amp; (1u &lt;&lt; CLASS)) != 0   — header-only inline, zero overhead.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CAN — Capability Activation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The sole registry of system components. Drivers as graph nodes.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Every driver / service / app registered as a CAN cap.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Dependency edges: e.g., tcp_ip depends on e1000 depends on pci_bus.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Activate cascades forward; deactivate cascades backward.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Each cap has on_activate / on_deactivate callbacks — physically drives hardware (keyboard IRQ on/off, fb mmio on/off).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Audit log entries on every state flip.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Phase 16 completed the hardware wiring (keyboard, fb, e1000, ahci).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5778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8B8B"/>
                </a:solidFill>
                <a:latin typeface="Calibri"/>
              </a:rPr>
              <a:t>apps +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562356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gash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562356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grahai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19" y="562356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ktest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720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8B8B"/>
                </a:solidFill>
                <a:latin typeface="Calibri"/>
              </a:rPr>
              <a:t>FS + net +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61772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grahafs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61772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tcp_ip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19" y="461772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8B8B"/>
                </a:solidFill>
                <a:latin typeface="Calibri"/>
              </a:rPr>
              <a:t>drivers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61188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keyboard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61188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fb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361188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e1000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361188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ahci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603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8B8B"/>
                </a:solidFill>
                <a:latin typeface="Calibri"/>
              </a:rPr>
              <a:t>hardware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60604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cpu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60604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2606040"/>
            <a:ext cx="914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pci_bus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138160" y="2788920"/>
            <a:ext cx="0" cy="22860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138160" y="3794760"/>
            <a:ext cx="0" cy="27432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138160" y="4800600"/>
            <a:ext cx="0" cy="27432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235440" y="2788920"/>
            <a:ext cx="0" cy="22860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235440" y="3794760"/>
            <a:ext cx="0" cy="27432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235440" y="4800600"/>
            <a:ext cx="0" cy="27432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241280" y="2788920"/>
            <a:ext cx="0" cy="22860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41280" y="3794760"/>
            <a:ext cx="0" cy="27432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241280" y="4800600"/>
            <a:ext cx="0" cy="274320"/>
          </a:xfrm>
          <a:prstGeom prst="bentConnector3">
            <a:avLst/>
          </a:prstGeom>
          <a:ln w="12700">
            <a:solidFill>
              <a:srgbClr val="8A8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863840" y="603504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C4A5B"/>
                </a:solidFill>
                <a:latin typeface="Calibri"/>
              </a:rPr>
              <a:t>→ activate cascades up; deactivate cascades 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GCP — The Only Native Public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/etc/gcp.json is the single source of truth for every syscall and message.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What GCP enforces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30352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Every syscall has a manifest entry in JSON.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Every channel message carries a 64-bit type_hash (FNV-1a).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Kernel rejects mistyped sends at entry (−EPROTOTYPE).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Every stream op has a generated op_schema row.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AI agents + humans read the same JSON file.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8B8B"/>
                </a:solidFill>
                <a:latin typeface="Calibri"/>
              </a:rPr>
              <a:t>•  </a:t>
            </a:r>
            <a:r>
              <a:rPr sz="1400" b="0">
                <a:solidFill>
                  <a:srgbClr val="3C4A5B"/>
                </a:solidFill>
                <a:latin typeface="Calibri"/>
              </a:rPr>
              <a:t>POSIX is optional libposix in userspace — never in kernel.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303520" cy="3840480"/>
          </a:xfrm>
          <a:prstGeom prst="rect">
            <a:avLst/>
          </a:prstGeom>
          <a:solidFill>
            <a:srgbClr val="1F2937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C9E2"/>
                </a:solidFill>
                <a:latin typeface="Consolas"/>
              </a:rPr>
              <a:t>  /etc/gcp.json  (excerpt)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EF"/>
                </a:solidFill>
                <a:latin typeface="Consolas"/>
              </a:rPr>
              <a:t>"grahaos.io.v1": {</a:t>
            </a:r>
          </a:p>
          <a:p>
            <a:r>
              <a:rPr sz="1300" b="0">
                <a:solidFill>
                  <a:srgbClr val="E2E8EF"/>
                </a:solidFill>
                <a:latin typeface="Consolas"/>
              </a:rPr>
              <a:t>  "ops": {</a:t>
            </a:r>
          </a:p>
          <a:p>
            <a:r>
              <a:rPr sz="1300" b="0">
                <a:solidFill>
                  <a:srgbClr val="E2E8EF"/>
                </a:solidFill>
                <a:latin typeface="Consolas"/>
              </a:rPr>
              <a:t>    "READ_VMO": { "op": 1,</a:t>
            </a:r>
          </a:p>
          <a:p>
            <a:r>
              <a:rPr sz="1300" b="0">
                <a:solidFill>
                  <a:srgbClr val="E2E8EF"/>
                </a:solidFill>
                <a:latin typeface="Consolas"/>
              </a:rPr>
              <a:t>      "pledge": "FS_READ",</a:t>
            </a:r>
          </a:p>
          <a:p>
            <a:r>
              <a:rPr sz="1300" b="0">
                <a:solidFill>
                  <a:srgbClr val="E2E8EF"/>
                </a:solidFill>
                <a:latin typeface="Consolas"/>
              </a:rPr>
              <a:t>      "dispatcher": "dispatch_read_vmo" },</a:t>
            </a:r>
          </a:p>
          <a:p>
            <a:r>
              <a:rPr sz="1300" b="0">
                <a:solidFill>
                  <a:srgbClr val="E2E8EF"/>
                </a:solidFill>
                <a:latin typeface="Consolas"/>
              </a:rPr>
              <a:t>    "WRITE_VMO":  { "op": 2, … },</a:t>
            </a:r>
          </a:p>
          <a:p>
            <a:r>
              <a:rPr sz="1300" b="0">
                <a:solidFill>
                  <a:srgbClr val="E2E8EF"/>
                </a:solidFill>
                <a:latin typeface="Consolas"/>
              </a:rPr>
              <a:t>    "SENDMSG":    { "op": 3, … }</a:t>
            </a:r>
          </a:p>
          <a:p>
            <a:r>
              <a:rPr sz="1300" b="0">
                <a:solidFill>
                  <a:srgbClr val="E2E8EF"/>
                </a:solidFill>
                <a:latin typeface="Consolas"/>
              </a:rPr>
              <a:t>  }</a:t>
            </a:r>
          </a:p>
          <a:p>
            <a:r>
              <a:rPr sz="1300" b="0">
                <a:solidFill>
                  <a:srgbClr val="E2E8EF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gen_manifest.py → single JSON → kernel op_schema + userspace OP_* constants.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0819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BCDE2"/>
                </a:solidFill>
                <a:latin typeface="Calibri"/>
              </a:rPr>
              <a:t>Kernel and userspace can never drift out of sync — the ABI is generated.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Channels — Typed Bidirectional IPC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Replace ambient pipes. Atomic handle transfer. Manifest-anchored.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560320" cy="2194560"/>
          </a:xfrm>
          <a:prstGeom prst="roundRect">
            <a:avLst/>
          </a:prstGeom>
          <a:solidFill>
            <a:srgbClr val="E8EEF4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Process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201168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wr_handle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C4A5B"/>
                </a:solidFill>
                <a:latin typeface="Calibri"/>
              </a:rPr>
              <a:t>Holds CAP_KIND_CHANNEL
write endpoint.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011680"/>
            <a:ext cx="2560320" cy="2194560"/>
          </a:xfrm>
          <a:prstGeom prst="roundRect">
            <a:avLst/>
          </a:prstGeom>
          <a:solidFill>
            <a:srgbClr val="E8EEF4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10312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Process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834640"/>
            <a:ext cx="2011680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rd_handle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5204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C4A5B"/>
                </a:solidFill>
                <a:latin typeface="Calibri"/>
              </a:rPr>
              <a:t>Holds CAP_KIND_CHANNEL
read endpoint.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011680"/>
            <a:ext cx="5120640" cy="2194560"/>
          </a:xfrm>
          <a:prstGeom prst="roundRect">
            <a:avLst/>
          </a:prstGeom>
          <a:solidFill>
            <a:srgbClr val="E6EEE1"/>
          </a:solidFill>
          <a:ln w="190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103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channel_t (manifest-typed)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4231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E8B8B"/>
                </a:solidFill>
                <a:latin typeface="Consolas"/>
              </a:rPr>
              <a:t>type_hash = FNV-1a("grahaos.io.v1")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2926080"/>
            <a:ext cx="5486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C4A5B"/>
                </a:solidFill>
                <a:latin typeface="Calibri"/>
              </a:rPr>
              <a:t>s0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6552" y="2926080"/>
            <a:ext cx="5486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C4A5B"/>
                </a:solidFill>
                <a:latin typeface="Calibri"/>
              </a:rPr>
              <a:t>s1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8344" y="2926080"/>
            <a:ext cx="5486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C4A5B"/>
                </a:solidFill>
                <a:latin typeface="Calibri"/>
              </a:rPr>
              <a:t>s2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0136" y="2926080"/>
            <a:ext cx="5486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C4A5B"/>
                </a:solidFill>
                <a:latin typeface="Calibri"/>
              </a:rPr>
              <a:t>s3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2926080"/>
            <a:ext cx="5486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C4A5B"/>
                </a:solidFill>
                <a:latin typeface="Calibri"/>
              </a:rPr>
              <a:t>s4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2926080"/>
            <a:ext cx="5486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C4A5B"/>
                </a:solidFill>
                <a:latin typeface="Calibri"/>
              </a:rPr>
              <a:t>s5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25512" y="2926080"/>
            <a:ext cx="5486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C4A5B"/>
                </a:solidFill>
                <a:latin typeface="Calibri"/>
              </a:rPr>
              <a:t>s6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7304" y="2926080"/>
            <a:ext cx="54864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C4A5B"/>
                </a:solidFill>
                <a:latin typeface="Calibri"/>
              </a:rPr>
              <a:t>s7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7033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C4A5B"/>
                </a:solidFill>
                <a:latin typeface="Calibri"/>
              </a:rPr>
              <a:t>Fixed 320 B slots  •  hdr + 256 B inline + 8 × handle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46120" y="3108960"/>
            <a:ext cx="365760" cy="0"/>
          </a:xfrm>
          <a:prstGeom prst="bentConnector3">
            <a:avLst/>
          </a:prstGeom>
          <a:ln w="2540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23960" y="3108960"/>
            <a:ext cx="457200" cy="0"/>
          </a:xfrm>
          <a:prstGeom prst="bentConnector3">
            <a:avLst/>
          </a:prstGeom>
          <a:ln w="2540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Two CAP_KIND_CHANNEL cap_objects per channel — read endpoint + write endpoint.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chan_send with mismatched type_hash → −EPROTOTYPE + audit entry.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Atomic handle transfer: handles moved out of sender's table into the slot, then into receiver.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TASK_STATE_CHAN_WAIT + per-tick deadline scan give timeouts without calibration.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Virtual Memory Objects (VMOs)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Named, refcounted physical frames. Copy-on-write — the speculation substrate.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10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108960" cy="292608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Parent VMO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234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page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377440"/>
            <a:ext cx="1234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page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83280"/>
            <a:ext cx="1234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page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3383280"/>
            <a:ext cx="1234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B365D"/>
                </a:solidFill>
                <a:latin typeface="Calibri"/>
              </a:rPr>
              <a:t>page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3108960" cy="2926080"/>
          </a:xfrm>
          <a:prstGeom prst="roundRect">
            <a:avLst/>
          </a:prstGeom>
          <a:solidFill>
            <a:srgbClr val="FAEFDD"/>
          </a:solidFill>
          <a:ln w="190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Calibri"/>
              </a:rPr>
              <a:t>COW Child VMO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377440"/>
            <a:ext cx="1234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365D"/>
                </a:solidFill>
                <a:latin typeface="Calibri"/>
              </a:rPr>
              <a:t>page 0 (RO)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2377440"/>
            <a:ext cx="1234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365D"/>
                </a:solidFill>
                <a:latin typeface="Calibri"/>
              </a:rPr>
              <a:t>page 1 (RO)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383280"/>
            <a:ext cx="1234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365D"/>
                </a:solidFill>
                <a:latin typeface="Calibri"/>
              </a:rPr>
              <a:t>page 2 (RO)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2680" y="3383280"/>
            <a:ext cx="1234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365D"/>
                </a:solidFill>
                <a:latin typeface="Calibri"/>
              </a:rPr>
              <a:t>page 3 (RO)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743200"/>
            <a:ext cx="2103120" cy="1188720"/>
          </a:xfrm>
          <a:prstGeom prst="rect">
            <a:avLst/>
          </a:prstGeom>
          <a:solidFill>
            <a:srgbClr val="E6EEE1"/>
          </a:solidFill>
          <a:ln w="1905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365D"/>
                </a:solidFill>
                <a:latin typeface="Calibri"/>
              </a:rPr>
              <a:t>Shared physical</a:t>
            </a:r>
          </a:p>
          <a:p>
            <a:pPr algn="ctr"/>
            <a:r>
              <a:rPr sz="1200" b="1">
                <a:solidFill>
                  <a:srgbClr val="1B365D"/>
                </a:solidFill>
                <a:latin typeface="Calibri"/>
              </a:rPr>
              <a:t>frame</a:t>
            </a:r>
          </a:p>
          <a:p>
            <a:pPr algn="ctr"/>
            <a:r>
              <a:rPr sz="1200" b="1">
                <a:solidFill>
                  <a:srgbClr val="1B365D"/>
                </a:solidFill>
                <a:latin typeface="Calibri"/>
              </a:rPr>
              <a:t>pp_refcount = 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0" y="3246120"/>
            <a:ext cx="1143000" cy="0"/>
          </a:xfrm>
          <a:prstGeom prst="bentConnector3">
            <a:avLst/>
          </a:prstGeom>
          <a:ln w="22225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178040" y="3246120"/>
            <a:ext cx="1188720" cy="0"/>
          </a:xfrm>
          <a:prstGeom prst="bentConnector3">
            <a:avLst/>
          </a:prstGeom>
          <a:ln w="22225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Why VMOs matter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Zero-copy shared memory between kernel and userspace (HHDM direct-map).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COW isolation: write to a shared frame triggers private-copy via page-fault handler.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Per-physical-page refcount (1 byte parallel to PMM bitmap).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Substrate for Phase 25 speculative transactions — "try and roll back" for free.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Submission Streams — Async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io_uring-style batching, GCP-native. Every op manifest-validated.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103120" cy="1828800"/>
          </a:xfrm>
          <a:prstGeom prst="roundRect">
            <a:avLst/>
          </a:prstGeom>
          <a:solidFill>
            <a:srgbClr val="E8EEF4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Userspace</a:t>
            </a:r>
          </a:p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producer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828800"/>
            <a:ext cx="2377440" cy="1371600"/>
          </a:xfrm>
          <a:prstGeom prst="roundRect">
            <a:avLst/>
          </a:prstGeom>
          <a:solidFill>
            <a:srgbClr val="DCE8F4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365D"/>
                </a:solidFill>
                <a:latin typeface="Calibri"/>
              </a:rPr>
              <a:t>SQ VMO</a:t>
            </a:r>
          </a:p>
          <a:p>
            <a:pPr algn="ctr"/>
            <a:r>
              <a:rPr sz="1200" b="1">
                <a:solidFill>
                  <a:srgbClr val="1B365D"/>
                </a:solidFill>
                <a:latin typeface="Calibri"/>
              </a:rPr>
              <a:t>(sqe_t 64 B × 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286000"/>
            <a:ext cx="2194560" cy="1828800"/>
          </a:xfrm>
          <a:prstGeom prst="roundRect">
            <a:avLst/>
          </a:prstGeom>
          <a:solidFill>
            <a:srgbClr val="FAEFDD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Kernel</a:t>
            </a:r>
          </a:p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worker</a:t>
            </a:r>
          </a:p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thread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2377440" cy="1371600"/>
          </a:xfrm>
          <a:prstGeom prst="roundRect">
            <a:avLst/>
          </a:prstGeom>
          <a:solidFill>
            <a:srgbClr val="E6EEE1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B365D"/>
                </a:solidFill>
                <a:latin typeface="Calibri"/>
              </a:rPr>
              <a:t>CQ VMO</a:t>
            </a:r>
          </a:p>
          <a:p>
            <a:pPr algn="ctr"/>
            <a:r>
              <a:rPr sz="1200" b="1">
                <a:solidFill>
                  <a:srgbClr val="1B365D"/>
                </a:solidFill>
                <a:latin typeface="Calibri"/>
              </a:rPr>
              <a:t>(cqe_t 32 B × 2N)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0" y="2286000"/>
            <a:ext cx="731520" cy="182880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User</a:t>
            </a:r>
          </a:p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reaps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2514600"/>
            <a:ext cx="320040" cy="0"/>
          </a:xfrm>
          <a:prstGeom prst="bentConnector3">
            <a:avLst/>
          </a:prstGeom>
          <a:ln w="2540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60320" y="20574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E8B8B"/>
                </a:solidFill>
                <a:latin typeface="Calibri"/>
              </a:rPr>
              <a:t>SQEs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40680" y="2514600"/>
            <a:ext cx="320040" cy="0"/>
          </a:xfrm>
          <a:prstGeom prst="bentConnector3">
            <a:avLst/>
          </a:prstGeom>
          <a:ln w="22225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01000" y="2514600"/>
            <a:ext cx="320040" cy="0"/>
          </a:xfrm>
          <a:prstGeom prst="bentConnector3">
            <a:avLst/>
          </a:prstGeom>
          <a:ln w="22225">
            <a:solidFill>
              <a:srgbClr val="1B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35240" y="20574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B365D"/>
                </a:solidFill>
                <a:latin typeface="Calibri"/>
              </a:rPr>
              <a:t>CQEs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744200" y="2514600"/>
            <a:ext cx="274320" cy="0"/>
          </a:xfrm>
          <a:prstGeom prst="bentConnector3">
            <a:avLst/>
          </a:prstGeom>
          <a:ln w="2540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2062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8F9B"/>
                </a:solidFill>
                <a:latin typeface="Consolas"/>
              </a:rPr>
              <a:t>head @ offset 0   |   tail @ offset 128   |   entries from page 1   (cache-line separated)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106424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One SYS_STREAM_SUBMIT can hand off thousands of ops — amortizes user/kernel crossings.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Every SQE type-validated against the stream's manifest at kernel entry.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Per-op pledge check; bad ops get inline CQE with −EPROTOTYPE or −EPLEDGE.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ACQUIRE / RELEASE on head/tail — io_uring memory discipline, documented in stream.h.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Optional notify channel: non-blocking event loop without polling.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GrahaFS — Filesystem with AI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AI metadata and similarity clustering are first-class.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On-disk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5303520" cy="7315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Superblock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9631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magic, sizes, free bitmap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79"/>
            <a:ext cx="5303520" cy="7315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1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Inode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1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256-byte inodes (not 128)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5303520" cy="7315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7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Extended meta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42231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tags, importance, ai_embedding[128]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5303520" cy="7315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Data blocks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6519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4 KiB each; 48 KiB file cap → Phase 19 fixes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Calibri"/>
              </a:rPr>
              <a:t>SimHash Clustering (Phase 11)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03120"/>
            <a:ext cx="54864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64-bit fingerprint per file (FNV-1a over 3-char shingles).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Sequential-leader clustering: Hamming distance ≤ 10 → same cluster.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Cluster IDs stored in inode's ai_reserved[].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Background indexer task scans root every 3 s.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/illu/ directory for deterministic files (no auto-cluster).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simhash("hello world this is a test") = 0x7F2A4B…  |  popcount(a ^ b) = Hamming distance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6247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BCDE2"/>
                </a:solidFill>
                <a:latin typeface="Calibri"/>
              </a:rPr>
              <a:t>OS-level similarity — no external ML dependency.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AI as a First-Class Citizen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Not bolted on. Baked in at the filesystem and speculation layers.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86400" cy="205740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grahai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A5B"/>
                </a:solidFill>
                <a:latin typeface="Calibri"/>
              </a:rPr>
              <a:t>Embedded AI agent process. Calls Gemini via in-kernel TCP/IP stack (Phase 9e).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8B8B"/>
                </a:solidFill>
                <a:latin typeface="Calibri"/>
              </a:rPr>
              <a:t>PLEDGE_AI_CALL + audit log entry per invoke.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486400" cy="205740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ai_metadata on every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A5B"/>
                </a:solidFill>
                <a:latin typeface="Calibri"/>
              </a:rPr>
              <a:t>tags[], importance score, ai_embedding[128], last_ai_touched.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8B8B"/>
                </a:solidFill>
                <a:latin typeface="Calibri"/>
              </a:rPr>
              <a:t>Queryable via SYS_SET_AI_METADATA / SYS_GET_AI_METADATA.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80"/>
            <a:ext cx="5486400" cy="205740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SimHash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A5B"/>
                </a:solidFill>
                <a:latin typeface="Calibri"/>
              </a:rPr>
              <a:t>Find near-duplicate files in Hamming distance — no external embedding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8B8B"/>
                </a:solidFill>
                <a:latin typeface="Calibri"/>
              </a:rPr>
              <a:t>OS surfaces cluster membership as metadata.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69080"/>
            <a:ext cx="5486400" cy="205740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Speculative execution  (Phase 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177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A5B"/>
                </a:solidFill>
                <a:latin typeface="Calibri"/>
              </a:rPr>
              <a:t>Transactions on COW VMO snapshots. AI tries a change; OS rolls back cleanly if wrong.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577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E8B8B"/>
                </a:solidFill>
                <a:latin typeface="Calibri"/>
              </a:rPr>
              <a:t>This is the differentiator — every other OS nails 'safety' but not safe exploration.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The Spec-Driven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Every phase starts as a YAML spec. No speculative coding.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737360" cy="23774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2148840"/>
            <a:ext cx="502920" cy="50292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YAML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554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C4A5B"/>
                </a:solidFill>
                <a:latin typeface="Calibri"/>
              </a:rPr>
              <a:t>specs/phase-NN.yml
actor workflows
manual verification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04288" y="3200400"/>
            <a:ext cx="146304" cy="0"/>
          </a:xfrm>
          <a:prstGeom prst="bentConnector3">
            <a:avLst/>
          </a:prstGeom>
          <a:ln w="1905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8880" y="2011680"/>
            <a:ext cx="1737360" cy="23774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0" y="2148840"/>
            <a:ext cx="502920" cy="50292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7432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Implement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063240"/>
            <a:ext cx="1554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C4A5B"/>
                </a:solidFill>
                <a:latin typeface="Calibri"/>
              </a:rPr>
              <a:t>new source files
struct + syscall
manifests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24528" y="3200400"/>
            <a:ext cx="146304" cy="0"/>
          </a:xfrm>
          <a:prstGeom prst="bentConnector3">
            <a:avLst/>
          </a:prstGeom>
          <a:ln w="1905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011680"/>
            <a:ext cx="1737360" cy="23774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0" y="2148840"/>
            <a:ext cx="502920" cy="50292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432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TAP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63240"/>
            <a:ext cx="1554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C4A5B"/>
                </a:solidFill>
                <a:latin typeface="Calibri"/>
              </a:rPr>
              <a:t>make test
gate_tests_passing
stability iters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44768" y="3200400"/>
            <a:ext cx="146304" cy="0"/>
          </a:xfrm>
          <a:prstGeom prst="bentConnector3">
            <a:avLst/>
          </a:prstGeom>
          <a:ln w="1905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2011680"/>
            <a:ext cx="1737360" cy="23774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49440" y="2148840"/>
            <a:ext cx="502920" cy="50292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432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Manual VP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63240"/>
            <a:ext cx="1554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C4A5B"/>
                </a:solidFill>
                <a:latin typeface="Calibri"/>
              </a:rPr>
              <a:t>shell commands
exact expected
outputs match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65008" y="3200400"/>
            <a:ext cx="146304" cy="0"/>
          </a:xfrm>
          <a:prstGeom prst="bentConnector3">
            <a:avLst/>
          </a:prstGeom>
          <a:ln w="1905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0" y="2011680"/>
            <a:ext cx="1737360" cy="23774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69680" y="2148840"/>
            <a:ext cx="502920" cy="50292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7432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063240"/>
            <a:ext cx="1554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C4A5B"/>
                </a:solidFill>
                <a:latin typeface="Calibri"/>
              </a:rPr>
              <a:t>problems_faced.md
audit_log.json
per-issue root cause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85248" y="3200400"/>
            <a:ext cx="146304" cy="0"/>
          </a:xfrm>
          <a:prstGeom prst="bentConnector3">
            <a:avLst/>
          </a:prstGeom>
          <a:ln w="19050">
            <a:solidFill>
              <a:srgbClr val="2E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49840" y="2011680"/>
            <a:ext cx="1737360" cy="23774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89920" y="2148840"/>
            <a:ext cx="502920" cy="502920"/>
          </a:xfrm>
          <a:prstGeom prst="ellipse">
            <a:avLst/>
          </a:prstGeom>
          <a:solidFill>
            <a:srgbClr val="1B365D"/>
          </a:solidFill>
          <a:ln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27432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B365D"/>
                </a:solidFill>
                <a:latin typeface="Calibri"/>
              </a:rPr>
              <a:t>Gate 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3063240"/>
            <a:ext cx="1554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C4A5B"/>
                </a:solidFill>
                <a:latin typeface="Calibri"/>
              </a:rPr>
              <a:t>only start N+1 after
N exit-criteria green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578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8B8B"/>
                </a:solidFill>
                <a:latin typeface="Calibri"/>
              </a:rPr>
              <a:t>Why this works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62356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Every phase has a reviewable YAML contract before a line of C is written. Every audit entry in problems_faced.md becomes an invariant for future phases — we know why the code is the way it 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Testing &amp; Verification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TAP 1.4. Every spec has a manual_verification section. make test exits zero or fails.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15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1488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2F7A4E"/>
                </a:solidFill>
                <a:latin typeface="Calibri"/>
              </a:rPr>
              <a:t>399/399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C4A5B"/>
                </a:solidFill>
                <a:latin typeface="Calibri"/>
              </a:rPr>
              <a:t>assertions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28800"/>
            <a:ext cx="21488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9659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B365D"/>
                </a:solidFill>
                <a:latin typeface="Calibri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C4A5B"/>
                </a:solidFill>
                <a:latin typeface="Calibri"/>
              </a:rPr>
              <a:t>TAP test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828800"/>
            <a:ext cx="21488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9659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2F7A4E"/>
                </a:solidFill>
                <a:latin typeface="Calibri"/>
              </a:rPr>
              <a:t>15/15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C4A5B"/>
                </a:solidFill>
                <a:latin typeface="Calibri"/>
              </a:rPr>
              <a:t>stability iterations clean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828800"/>
            <a:ext cx="21488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9659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2E8B8B"/>
                </a:solidFill>
                <a:latin typeface="Calibri"/>
              </a:rPr>
              <a:t>26s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C4A5B"/>
                </a:solidFill>
                <a:latin typeface="Calibri"/>
              </a:rPr>
              <a:t>full suite wall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828800"/>
            <a:ext cx="21488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82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9659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88228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06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C4A5B"/>
                </a:solidFill>
                <a:latin typeface="Calibri"/>
              </a:rPr>
              <a:t>issues logged in phase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Structure per phase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40480"/>
            <a:ext cx="54864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unit_tests — isolated property checks.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integration_tests — full-system workflows.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fault_injection_tests — deliberate failures.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stress_tests — soak at scale.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gate: yes  vs  gate: no per entry.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Calibri"/>
              </a:rPr>
              <a:t>Notable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40480"/>
            <a:ext cx="512064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sentinel_meta proves the harness catches failures.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cantest_v2 (37) / captest_v2 (42) — capability lifecycle.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chantest (24) / vmotest (18) — Phase 17 IPC substrate.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streamtest (22) — Phase 18 async I/O correctness.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8B8B"/>
                </a:solidFill>
                <a:latin typeface="Calibri"/>
              </a:rPr>
              <a:t>•  </a:t>
            </a:r>
            <a:r>
              <a:rPr sz="1300" b="0">
                <a:solidFill>
                  <a:srgbClr val="3C4A5B"/>
                </a:solidFill>
                <a:latin typeface="Calibri"/>
              </a:rPr>
              <a:t>canstress 100× cap cycle — no stuck IRQs.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Phases Completed (0 → 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Boot to Phase 18 async I/O — 18 substantial spec-driven milestones.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B8B"/>
                </a:solidFill>
                <a:latin typeface="Calibri"/>
              </a:rPr>
              <a:t>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5303520" cy="68580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P0–7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0370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Bootloader, GDT/IDT, PMM/VMM, sched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5303520" cy="68580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8094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CAN registry + drivers (kb/fb/lapic)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5303520" cy="68580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5818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E1000 + Mongoose TCP/IP + HTTPS + DNS + Gemini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5303520" cy="68580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3542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Per-process FDs + pipes + redirects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60"/>
            <a:ext cx="5303520" cy="68580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12664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SimHash + sequential-leader clustering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B8B"/>
                </a:solidFill>
                <a:latin typeface="Calibri"/>
              </a:rPr>
              <a:t>Recent — spec-driven cycle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057400"/>
            <a:ext cx="5303520" cy="438912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1122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13055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Test harness + TAP 1.4 floor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60320"/>
            <a:ext cx="5303520" cy="438912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6151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63347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Structured logging + panic/oops dump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063240"/>
            <a:ext cx="5303520" cy="438912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1181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1363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Slab + kheap + per-CPU (NUMA-ready)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566160"/>
            <a:ext cx="5303520" cy="438912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6210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P15a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363931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Capability Objects v2 (tokens, gen, audience)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069080"/>
            <a:ext cx="5303520" cy="438912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12394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P15b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14223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Pledges + persistent audit log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572000"/>
            <a:ext cx="5303520" cy="438912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62686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64515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CAN callbacks → physical hardware control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074920"/>
            <a:ext cx="5303520" cy="438912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1297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14807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4A5B"/>
                </a:solidFill>
                <a:latin typeface="Calibri"/>
              </a:rPr>
              <a:t>Channels + VMOs + handle-passing IPC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577840"/>
            <a:ext cx="5303520" cy="438912"/>
          </a:xfrm>
          <a:prstGeom prst="roundRect">
            <a:avLst/>
          </a:prstGeom>
          <a:solidFill>
            <a:srgbClr val="D4E5D8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632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6509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7A4E"/>
                </a:solidFill>
                <a:latin typeface="Calibri"/>
              </a:rPr>
              <a:t>Submission Streams (async I/O)  ← current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Roadmap 19 →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Toward an MVP: versioned FS, userspace drivers, speculation, Wasmtime, TUI.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6537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GrahaFS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848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versioned segments + full data journaling; async_read consumed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86537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Per-CPU 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0848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work-stealing runqueues; resource limits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24328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624328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6609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Userspace driver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8803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e1000 migration out of kernel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24328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624328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6609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In-tree TCP/IP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8803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replace 19 k-line Mongoose; ARP/IPv4/UDP/TCP-Reno/DHCP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19856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419856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4564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AHCI userspace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67588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interrupt-driven block I/O; completes drivers-outward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419856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419856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45643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COW snapshot subsystem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67588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whole-process snapshots on VMO infra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215383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4215383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251959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Speculative 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47141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transactions on snapshots — the AI-exploration primitive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215383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215383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251959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Wasmtime userspace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471415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GCP as WIT; Rust user programs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010912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5010912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504748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TUI framework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526694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virtual consoles + widgets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010912"/>
            <a:ext cx="5577840" cy="502920"/>
          </a:xfrm>
          <a:prstGeom prst="roundRect">
            <a:avLst/>
          </a:prstGeom>
          <a:solidFill>
            <a:srgbClr val="E8EEF4"/>
          </a:solidFill>
          <a:ln w="63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5010912"/>
            <a:ext cx="640080" cy="502920"/>
          </a:xfrm>
          <a:prstGeom prst="rect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04748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65D"/>
                </a:solidFill>
                <a:latin typeface="Calibri"/>
              </a:rPr>
              <a:t>MVP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26694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C4A5B"/>
                </a:solidFill>
                <a:latin typeface="Calibri"/>
              </a:rPr>
              <a:t>TUI-first shell + AI polish + 1-hour stress bench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217920"/>
            <a:ext cx="11064240" cy="502920"/>
          </a:xfrm>
          <a:prstGeom prst="rect">
            <a:avLst/>
          </a:prstGeom>
          <a:solidFill>
            <a:srgbClr val="2E8B8B"/>
          </a:solidFill>
          <a:ln w="1587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629107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Phase 25 is the thesis: snapshots + COW VMO + transactional channels = safe AI speculation.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Key Novel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What's actually new — vs. Unix / Linux / microkernels / io_uring.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486400" cy="10058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731520" y="2029968"/>
            <a:ext cx="411480" cy="41148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8470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No users, no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0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A5B"/>
                </a:solidFill>
                <a:latin typeface="Calibri"/>
              </a:rPr>
              <a:t>Identity = bundle of cap_tokens. uid/gid/root never existed.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486400" cy="10058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400800" y="2029968"/>
            <a:ext cx="411480" cy="41148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8470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Dual authority (cap + pledge)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240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A5B"/>
                </a:solidFill>
                <a:latin typeface="Calibri"/>
              </a:rPr>
              <a:t>Caps say CAN now. Pledges say WILL ever again. Orthogonal.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80360"/>
            <a:ext cx="5486400" cy="10058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731520" y="3172968"/>
            <a:ext cx="411480" cy="41148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9900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GCP as sole public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83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A5B"/>
                </a:solidFill>
                <a:latin typeface="Calibri"/>
              </a:rPr>
              <a:t>Every syscall and message validates against JSON manifest at entry.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80360"/>
            <a:ext cx="5486400" cy="10058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6400800" y="3172968"/>
            <a:ext cx="411480" cy="41148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9900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Manifest-typed 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83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A5B"/>
                </a:solidFill>
                <a:latin typeface="Calibri"/>
              </a:rPr>
              <a:t>Ambient-authority pipes dead. Every message type-hash-anchored.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23360"/>
            <a:ext cx="5486400" cy="10058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731520" y="4315968"/>
            <a:ext cx="411480" cy="41148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1330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Speculation as OS primitive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26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A5B"/>
                </a:solidFill>
                <a:latin typeface="Calibri"/>
              </a:rPr>
              <a:t>COW VMOs + snapshots + transactional channels (coming P24–25).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5486400" cy="10058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6400800" y="4315968"/>
            <a:ext cx="411480" cy="41148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41330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Generated ABI — kernel ↔ user single-source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526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A5B"/>
                </a:solidFill>
                <a:latin typeface="Calibri"/>
              </a:rPr>
              <a:t>gen_manifest.py emits both sides. Drift impossible.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66360"/>
            <a:ext cx="5486400" cy="10058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731520" y="5458968"/>
            <a:ext cx="411480" cy="41148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2760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AI metadata in the filesystem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669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A5B"/>
                </a:solidFill>
                <a:latin typeface="Calibri"/>
              </a:rPr>
              <a:t>tags, importance, embeddings, SimHash clusters — native.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166360"/>
            <a:ext cx="5486400" cy="100584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6400800" y="5458968"/>
            <a:ext cx="411480" cy="411480"/>
          </a:xfrm>
          <a:prstGeom prst="diamond">
            <a:avLst/>
          </a:prstGeom>
          <a:solidFill>
            <a:srgbClr val="2E8B8B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52760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65D"/>
                </a:solidFill>
                <a:latin typeface="Calibri"/>
              </a:rPr>
              <a:t>Everything auditable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669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C4A5B"/>
                </a:solidFill>
                <a:latin typeface="Calibri"/>
              </a:rPr>
              <a:t>Caps, pledges, stream rejections, VMO faults — all in /var/audit.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365D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E8B8B"/>
                </a:solidFill>
                <a:latin typeface="Calibri"/>
              </a:rPr>
              <a:t>An AI-native OS built the slow way — spec first, test floor high.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64240" cy="0"/>
          </a:xfrm>
          <a:prstGeom prst="line">
            <a:avLst/>
          </a:prstGeom>
          <a:ln w="15875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F9B"/>
                </a:solidFill>
                <a:latin typeface="Calibri"/>
              </a:rPr>
              <a:t>GrahaOS — Capability-First AI-Native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F9B"/>
                </a:solidFill>
                <a:latin typeface="Calibri"/>
              </a:rPr>
              <a:t>19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Where we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A5B"/>
                </a:solidFill>
                <a:latin typeface="Calibri"/>
              </a:rPr>
              <a:t>Phases 0–18 complete. 399/399 tests. Async I/O shipped. Kernel ready to shed drivers.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10881360" cy="96012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What's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A5B"/>
                </a:solidFill>
                <a:latin typeface="Calibri"/>
              </a:rPr>
              <a:t>Phase 19 versioned FS, then drivers-outward (P21–23), then speculation (P24–25).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10881360" cy="960120"/>
          </a:xfrm>
          <a:prstGeom prst="roundRect">
            <a:avLst/>
          </a:prstGeom>
          <a:solidFill>
            <a:srgbClr val="E8EEF4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7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Calibri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39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A5B"/>
                </a:solidFill>
                <a:latin typeface="Calibri"/>
              </a:rPr>
              <a:t>Every other OS treats AI as an app. We treat AI as a user class with its own safety needs.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10881360" cy="1097280"/>
          </a:xfrm>
          <a:prstGeom prst="rect">
            <a:avLst/>
          </a:prstGeom>
          <a:solidFill>
            <a:srgbClr val="1B365D"/>
          </a:solidFill>
          <a:ln w="1587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BBCDE2"/>
                </a:solidFill>
                <a:latin typeface="Calibri"/>
              </a:rPr>
              <a:t>Questions?  —  github.com/B-Divyesh/GrahaOS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